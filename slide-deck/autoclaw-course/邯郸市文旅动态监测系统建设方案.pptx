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914400"/>
            <a:ext cx="4876495" cy="502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77840" y="914400"/>
            <a:ext cx="1097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400" b="0">
                <a:solidFill>
                  <a:srgbClr val="FFFFFF"/>
                </a:solidFill>
                <a:latin typeface="Microsoft YaHei"/>
              </a:defRPr>
            </a:pPr>
            <a:r>
              <a:t>🏯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94560"/>
            <a:ext cx="9418320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邯郸市</a:t>
            </a:r>
            <a:r>
              <a:rPr sz="4400" b="1">
                <a:solidFill>
                  <a:srgbClr val="C9A84C"/>
                </a:solidFill>
                <a:latin typeface="Microsoft YaHei"/>
              </a:rPr>
              <a:t>文旅动态监测系统</a:t>
            </a:r>
            <a:r>
              <a:rPr sz="4400" b="1">
                <a:solidFill>
                  <a:srgbClr val="FFFFFF"/>
                </a:solidFill>
                <a:latin typeface="Microsoft YaHei"/>
              </a:rPr>
              <a:t>
建设方案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297680"/>
            <a:ext cx="2103120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4572000"/>
            <a:ext cx="85039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>
                <a:solidFill>
                  <a:srgbClr val="B3B3B3"/>
                </a:solidFill>
                <a:latin typeface="Microsoft YaHei"/>
              </a:defRPr>
            </a:pPr>
            <a:r>
              <a:t>以数据驱动文旅高质量发展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5120640"/>
            <a:ext cx="2651760" cy="411480"/>
          </a:xfrm>
          <a:prstGeom prst="round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9A84C"/>
                </a:solidFill>
                <a:latin typeface="Microsoft YaHei"/>
              </a:defRPr>
            </a:pPr>
            <a:r>
              <a:t>邯郸道先行试点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808080"/>
                </a:solidFill>
                <a:latin typeface="Microsoft YaHei"/>
              </a:defRPr>
            </a:pPr>
            <a:r>
              <a:t>汇报单位：邯郸市规划设计院  |  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00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汇 报 目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280160"/>
            <a:ext cx="4937760" cy="10058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1417320"/>
            <a:ext cx="8229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2A4060"/>
                </a:solidFill>
                <a:latin typeface="Noto Serif SC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463040"/>
            <a:ext cx="34747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背景与形势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80160"/>
            <a:ext cx="4937760" cy="10058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0" y="1417320"/>
            <a:ext cx="8229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2A4060"/>
                </a:solidFill>
                <a:latin typeface="Noto Serif SC"/>
              </a:defRPr>
            </a:pPr>
            <a: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463040"/>
            <a:ext cx="34747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现状与痛点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560320"/>
            <a:ext cx="4937760" cy="10058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80160" y="2697480"/>
            <a:ext cx="8229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2A4060"/>
                </a:solidFill>
                <a:latin typeface="Noto Serif SC"/>
              </a:defRPr>
            </a:pPr>
            <a: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2743200"/>
            <a:ext cx="34747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系统总体方案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560320"/>
            <a:ext cx="4937760" cy="10058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2697480"/>
            <a:ext cx="8229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2A4060"/>
                </a:solidFill>
                <a:latin typeface="Noto Serif SC"/>
              </a:defRPr>
            </a:pPr>
            <a: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2743200"/>
            <a:ext cx="34747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核心功能模块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840480"/>
            <a:ext cx="4937760" cy="10058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3977640"/>
            <a:ext cx="8229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2A4060"/>
                </a:solidFill>
                <a:latin typeface="Noto Serif SC"/>
              </a:defRPr>
            </a:pPr>
            <a:r>
              <a:t>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4023360"/>
            <a:ext cx="34747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邯郸道先行试点方案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840480"/>
            <a:ext cx="4937760" cy="10058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3977640"/>
            <a:ext cx="8229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2A4060"/>
                </a:solidFill>
                <a:latin typeface="Noto Serif SC"/>
              </a:defRPr>
            </a:pPr>
            <a:r>
              <a:t>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4023360"/>
            <a:ext cx="34747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技术架构与实施路径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120640"/>
            <a:ext cx="4937760" cy="10058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0160" y="5257800"/>
            <a:ext cx="8229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2A4060"/>
                </a:solidFill>
                <a:latin typeface="Noto Serif SC"/>
              </a:defRPr>
            </a:pPr>
            <a:r>
              <a:t>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5303520"/>
            <a:ext cx="34747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预期效益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5120640"/>
            <a:ext cx="4937760" cy="10058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5257800"/>
            <a:ext cx="8229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2A4060"/>
                </a:solidFill>
                <a:latin typeface="Noto Serif SC"/>
              </a:defRPr>
            </a:pPr>
            <a:r>
              <a:t>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5303520"/>
            <a:ext cx="34747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下一步工作建议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背景与形势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2560320" cy="14630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C9A84C"/>
                </a:solidFill>
                <a:latin typeface="Noto Serif SC"/>
              </a:defRPr>
            </a:pPr>
            <a:r>
              <a:t>↑35%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2194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2025年游客量同比增长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188720"/>
            <a:ext cx="2560320" cy="14630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C9A84C"/>
                </a:solidFill>
                <a:latin typeface="Noto Serif SC"/>
              </a:defRPr>
            </a:pPr>
            <a:r>
              <a:t>↑42%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2194560"/>
            <a:ext cx="2194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2025年旅游收入同比增长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2560320" cy="14630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C9A84C"/>
                </a:solidFill>
                <a:latin typeface="Noto Serif SC"/>
              </a:defRPr>
            </a:pPr>
            <a:r>
              <a:t>5,200万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194560"/>
            <a:ext cx="2194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2025年接待游客总量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188720"/>
            <a:ext cx="2560320" cy="14630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C9A84C"/>
                </a:solidFill>
                <a:latin typeface="Noto Serif SC"/>
              </a:defRPr>
            </a:pPr>
            <a:r>
              <a:t>TOP3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2194560"/>
            <a:ext cx="2194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河北省文旅热度排名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3383280" cy="22860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20040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657600"/>
            <a:ext cx="30175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全国趋势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301752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杭州"文旅大脑"、淄博烧烤监测、哈尔滨冰雪季实时调度，数字化已成为城市文旅竞争的核心能力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017520"/>
            <a:ext cx="3383280" cy="22860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320040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657600"/>
            <a:ext cx="30175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政策导向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4023360"/>
            <a:ext cx="301752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文旅部"智慧旅游高质量发展"战略，河北省"数字经济"发展规划，明确支持文旅数字化建设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017520"/>
            <a:ext cx="3383280" cy="22860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20040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657600"/>
            <a:ext cx="30175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核心判断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01752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C9A84C"/>
                </a:solidFill>
                <a:latin typeface="Microsoft YaHei"/>
              </a:defRPr>
            </a:pPr>
            <a:r>
              <a:t>发展势头迅猛，管理手段必须跟上——建设统一监测平台，是必然选择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151A10"/>
          </a:solidFill>
          <a:ln w="6350">
            <a:solidFill>
              <a:srgbClr val="4A3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C9A84C"/>
                </a:solidFill>
                <a:latin typeface="Microsoft YaHei"/>
              </a:defRPr>
            </a:pPr>
            <a:r>
              <a:t>🎯 一个平台，五大能力 —— 让数据说话，让管理更聪明，让邯郸文旅更出彩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现状与痛点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54864" cy="10058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188720"/>
            <a:ext cx="10241280" cy="1005840"/>
          </a:xfrm>
          <a:prstGeom prst="roundRect">
            <a:avLst/>
          </a:prstGeom>
          <a:solidFill>
            <a:srgbClr val="11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132588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🏝️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28016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数据分散 · 信息孤岛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69164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808080"/>
                </a:solidFill>
                <a:latin typeface="Microsoft YaHei"/>
              </a:defRPr>
            </a:pPr>
            <a:r>
              <a:t>各景区、商户、平台数据各自为政，无法形成全市文旅运行全景视图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77440"/>
            <a:ext cx="54864" cy="10058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2377440"/>
            <a:ext cx="10241280" cy="1005840"/>
          </a:xfrm>
          <a:prstGeom prst="roundRect">
            <a:avLst/>
          </a:prstGeom>
          <a:solidFill>
            <a:srgbClr val="11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251460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46888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响应滞后 · 被动处置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88036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808080"/>
                </a:solidFill>
                <a:latin typeface="Microsoft YaHei"/>
              </a:defRPr>
            </a:pPr>
            <a:r>
              <a:t>舆情发酵、客流超载等问题发现晚、处置慢，往往"事发了才知道"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566160"/>
            <a:ext cx="54864" cy="10058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3566160"/>
            <a:ext cx="10241280" cy="1005840"/>
          </a:xfrm>
          <a:prstGeom prst="roundRect">
            <a:avLst/>
          </a:prstGeom>
          <a:solidFill>
            <a:srgbClr val="11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370332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65760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决策凭经验 · 缺乏数据支撑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06908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808080"/>
                </a:solidFill>
                <a:latin typeface="Microsoft YaHei"/>
              </a:defRPr>
            </a:pPr>
            <a:r>
              <a:t>资源调配、营销投放依赖经验判断，缺少量化依据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754880"/>
            <a:ext cx="54864" cy="10058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4754880"/>
            <a:ext cx="10241280" cy="1005840"/>
          </a:xfrm>
          <a:prstGeom prst="roundRect">
            <a:avLst/>
          </a:prstGeom>
          <a:solidFill>
            <a:srgbClr val="11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8720" y="489204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484632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营销效果无法量化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525780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808080"/>
                </a:solidFill>
                <a:latin typeface="Microsoft YaHei"/>
              </a:defRPr>
            </a:pPr>
            <a:r>
              <a:t>投了多少宣传经费、带来了多少游客，算不清、说不明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943600"/>
            <a:ext cx="10332720" cy="548640"/>
          </a:xfrm>
          <a:prstGeom prst="roundRect">
            <a:avLst/>
          </a:prstGeom>
          <a:solidFill>
            <a:srgbClr val="151A10"/>
          </a:solidFill>
          <a:ln w="6350">
            <a:solidFill>
              <a:srgbClr val="4A3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C9A84C"/>
                </a:solidFill>
                <a:latin typeface="Microsoft YaHei"/>
              </a:defRPr>
            </a:pPr>
            <a:r>
              <a:t>→ 建设统一的文旅动态监测平台，实现"看得见、报得快、想得深、管得细"，是破解上述痛点的根本出路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29260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3716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164592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👁️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86000"/>
            <a:ext cx="1828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看得见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834640"/>
            <a:ext cx="173736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实时掌握全市文旅运行态势，一屏尽览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371600"/>
            <a:ext cx="2011680" cy="29260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3716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64592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286000"/>
            <a:ext cx="1828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报得快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834640"/>
            <a:ext cx="173736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异常情况秒级预警，推送至手机端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371600"/>
            <a:ext cx="2011680" cy="29260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3716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164592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2286000"/>
            <a:ext cx="1828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想得深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834640"/>
            <a:ext cx="173736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AI 分析辅助科学决策，预测趋势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371600"/>
            <a:ext cx="2011680" cy="29260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3716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164592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286000"/>
            <a:ext cx="1828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管得细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80" y="2834640"/>
            <a:ext cx="173736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从市级到景区，分级精细化管理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2011680" cy="29260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3716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1645920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2286000"/>
            <a:ext cx="1828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用得便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80" y="2834640"/>
            <a:ext cx="173736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PC 大屏 + 移动端，随时随地掌控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754880"/>
            <a:ext cx="10332720" cy="548640"/>
          </a:xfrm>
          <a:prstGeom prst="roundRect">
            <a:avLst/>
          </a:prstGeom>
          <a:solidFill>
            <a:srgbClr val="151A10"/>
          </a:solidFill>
          <a:ln w="6350">
            <a:solidFill>
              <a:srgbClr val="4A3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C9A84C"/>
                </a:solidFill>
                <a:latin typeface="Microsoft YaHei"/>
              </a:defRPr>
            </a:pPr>
            <a:r>
              <a:t>🎯 一个平台，五大能力 —— 让数据说话，让管理更聪明，让邯郸文旅更出彩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总体架构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2011680" cy="1005840"/>
          </a:xfrm>
          <a:prstGeom prst="roundRect">
            <a:avLst/>
          </a:prstGeom>
          <a:solidFill>
            <a:srgbClr val="2A240A"/>
          </a:solidFill>
          <a:ln w="12700">
            <a:solidFill>
              <a:srgbClr val="4A3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📱 应用层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50876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领导驾驶舱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50876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部门专报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50876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移动端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50876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预警推送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150876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数据大屏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423160"/>
            <a:ext cx="4572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4A3E1A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651760"/>
            <a:ext cx="2011680" cy="1005840"/>
          </a:xfrm>
          <a:prstGeom prst="roundRect">
            <a:avLst/>
          </a:prstGeom>
          <a:solidFill>
            <a:srgbClr val="0A1A2A"/>
          </a:solidFill>
          <a:ln w="12700">
            <a:solidFill>
              <a:srgbClr val="1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🧠 分析层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78892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客流预测模型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278892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舆情情感分析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78892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消费画像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78892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热力分析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278892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ROI 评估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3703320"/>
            <a:ext cx="4572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4A3E1A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31920"/>
            <a:ext cx="2011680" cy="100584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1A5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🗄️ 数据层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406908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数据清洗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406908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指标计算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406908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数据仓库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406908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实时流处理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49840" y="406908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API 网关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4983480"/>
            <a:ext cx="4572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4A3E1A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212080"/>
            <a:ext cx="2011680" cy="1005840"/>
          </a:xfrm>
          <a:prstGeom prst="roundRect">
            <a:avLst/>
          </a:prstGeom>
          <a:solidFill>
            <a:srgbClr val="2A1A0A"/>
          </a:solidFill>
          <a:ln w="12700">
            <a:solidFill>
              <a:srgbClr val="5A3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📡 采集层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534924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景区闸机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534924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手机信令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534924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OTA 平台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534924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社交媒体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534924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12345 工单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87200" y="534924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支付数据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624560" y="5349240"/>
            <a:ext cx="1554480" cy="365760"/>
          </a:xfrm>
          <a:prstGeom prst="roundRect">
            <a:avLst/>
          </a:prstGeom>
          <a:noFill/>
          <a:ln w="6350">
            <a:solidFill>
              <a:srgbClr val="2A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气象数据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120640" cy="38404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📊 数据来源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197104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75080" y="192024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景区闸机/票务系统 — 精确入园人数（实时）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29108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75080" y="224028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运营商手机信令 — 全市游客总量、客源地（15分钟）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261112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75080" y="256032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百度/高德热力图 — 区域客流密度（5分钟）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293116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75080" y="288036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停车场数据 — 自驾游趋势（15分钟）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32512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75080" y="320040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酒店入住率 — 过夜游客量（每日）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188720"/>
            <a:ext cx="5120640" cy="38404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1280160"/>
            <a:ext cx="4572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🎯 关键指标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197104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2920" y="192024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实时在园人数 vs 最大承载量</a:t>
            </a:r>
          </a:p>
        </p:txBody>
      </p:sp>
      <p:sp>
        <p:nvSpPr>
          <p:cNvPr id="23" name="Oval 22"/>
          <p:cNvSpPr/>
          <p:nvPr/>
        </p:nvSpPr>
        <p:spPr>
          <a:xfrm>
            <a:off x="6675120" y="229108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2920" y="224028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80% 预警 → 95% 限流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0" y="261112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2920" y="256032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同比/环比增长率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293116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2920" y="288036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客源地分布（省内/省外/境外 Top 10）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32512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2920" y="320040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游客平均停留时长、重游率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0A1A2A"/>
          </a:solidFill>
          <a:ln w="6350">
            <a:solidFill>
              <a:srgbClr val="1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73152"/>
          <a:lstStyle/>
          <a:p>
            <a:pPr algn="ctr">
              <a:defRPr sz="1300">
                <a:solidFill>
                  <a:srgbClr val="B3B3B3"/>
                </a:solidFill>
                <a:latin typeface="Microsoft YaHei"/>
              </a:defRPr>
            </a:pPr>
            <a:r>
              <a:rPr sz="1300" b="1">
                <a:solidFill>
                  <a:srgbClr val="3498DB"/>
                </a:solidFill>
                <a:latin typeface="Microsoft YaHei"/>
              </a:rPr>
              <a:t>🎬 场景示例：</a:t>
            </a:r>
            <a:r>
              <a:rPr sz="1300">
                <a:solidFill>
                  <a:srgbClr val="B3B3B3"/>
                </a:solidFill>
                <a:latin typeface="Microsoft YaHei"/>
              </a:rPr>
              <a:t>五一假期广府古城客流突破承载量 85%，系统自动触发橙色预警 → 推送至值班人员手机 → 启动限流预案 → 30 分钟内完成疏导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120640" cy="38404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📡 全渠道监听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197104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75080" y="192024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微博 / 抖音 / 小红书 / B站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29108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75080" y="224028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携程 / 美团 / 马蜂窝点评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261112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75080" y="256032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12345 政务投诉工单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293116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75080" y="288036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本地新闻媒体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5120640" cy="38404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280160"/>
            <a:ext cx="4572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🤖 AI 能力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197104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2920" y="192024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情感分析：正面 / 中性 / 负面自动识别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229108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2920" y="224028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热点话题自动聚类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2743200"/>
            <a:ext cx="1097280" cy="32004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一般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2743200"/>
            <a:ext cx="1097280" cy="32004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重要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743200"/>
            <a:ext cx="1097280" cy="32004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紧急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334264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2920" y="329184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舆情趋势预测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0A1A2A"/>
          </a:solidFill>
          <a:ln w="6350">
            <a:solidFill>
              <a:srgbClr val="1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73152"/>
          <a:lstStyle/>
          <a:p>
            <a:pPr algn="ctr"/>
            <a:r>
              <a:rPr sz="1300" b="1">
                <a:solidFill>
                  <a:srgbClr val="3498DB"/>
                </a:solidFill>
                <a:latin typeface="Microsoft YaHei"/>
              </a:rPr>
              <a:t>🎬 场景示例：</a:t>
            </a:r>
            <a:r>
              <a:rPr sz="1300">
                <a:solidFill>
                  <a:srgbClr val="B3B3B3"/>
                </a:solidFill>
                <a:latin typeface="Microsoft YaHei"/>
              </a:rPr>
              <a:t>某景区服务投诉在抖音发酵，系统 5 分钟内捕捉 → AI 判定为"重要"级别 → 10 分钟内推送至文旅局负责人 → 30 分钟内启动应对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120640" cy="41148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28016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28016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消费监测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06248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75080" y="201168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文旅消费总额、人均消费趋势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238252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75080" y="233172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消费结构：门票 / 餐饮 / 住宿 / 购物 / 娱乐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270256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75080" y="265176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商户营收 TOP 排行榜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0226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75080" y="297180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节假日消费峰值预测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334264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75080" y="329184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数据来源：银联/支付宝/微信聚合数据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188720"/>
            <a:ext cx="5120640" cy="41148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128016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128016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安全应急</a:t>
            </a:r>
          </a:p>
        </p:txBody>
      </p:sp>
      <p:sp>
        <p:nvSpPr>
          <p:cNvPr id="23" name="Oval 22"/>
          <p:cNvSpPr/>
          <p:nvPr/>
        </p:nvSpPr>
        <p:spPr>
          <a:xfrm>
            <a:off x="6675120" y="206248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2920" y="201168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拥挤度四色预警：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423160"/>
            <a:ext cx="548640" cy="27432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2423160"/>
            <a:ext cx="548640" cy="2743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423160"/>
            <a:ext cx="548640" cy="2743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2423160"/>
            <a:ext cx="548640" cy="27432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红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297688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2920" y="292608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恶劣天气联动预警（对接气象局 API）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329692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2920" y="324612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突发事件上报与跟踪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361696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2920" y="356616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应急预案一键启动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39370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2920" y="388620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消防 / 公安 / 城管联动接口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29260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5448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03120"/>
            <a:ext cx="30175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活动效果对比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51760"/>
            <a:ext cx="30175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营销活动前后客流对比、搜索热度变化、社交媒体曝光量追踪，用数据回答"活动值不值"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383280" cy="29260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55448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103120"/>
            <a:ext cx="30175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新媒体 ROI 追踪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651760"/>
            <a:ext cx="30175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曝光量 → 搜索量 → 实际客流，完整转化链路追踪，找出性价比最高的投放渠道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29260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103120"/>
            <a:ext cx="30175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城市品牌指数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651760"/>
            <a:ext cx="30175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城市搜索热度、全网提及率、网红打卡点传播效果，量化邯郸文旅品牌影响力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754880"/>
            <a:ext cx="10332720" cy="914400"/>
          </a:xfrm>
          <a:prstGeom prst="roundRect">
            <a:avLst/>
          </a:prstGeom>
          <a:solidFill>
            <a:srgbClr val="151A10"/>
          </a:solidFill>
          <a:ln w="6350">
            <a:solidFill>
              <a:srgbClr val="4A3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/>
            <a:r>
              <a:rPr sz="1400">
                <a:solidFill>
                  <a:srgbClr val="808080"/>
                </a:solidFill>
                <a:latin typeface="Microsoft YaHei"/>
              </a:rPr>
              <a:t>💡 过去：宣传花了多少钱、带来多少人——</a:t>
            </a:r>
            <a:r>
              <a:rPr sz="1400" b="1">
                <a:solidFill>
                  <a:srgbClr val="4D4D4D"/>
                </a:solidFill>
                <a:latin typeface="Microsoft YaHei"/>
              </a:rPr>
              <a:t>说不清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9A84C"/>
                </a:solidFill>
                <a:latin typeface="Microsoft YaHei"/>
              </a:defRPr>
            </a:pPr>
            <a:r>
              <a:t>建成后：每一笔投放的 ROI——一目了然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邯郸道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120640" cy="38404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28016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📍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28016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区位与定位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06248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75080" y="201168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核心地段：市中心核心区域，串连丛台公园、学步桥、回车巷等历史文化地标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238252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75080" y="233172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功能定位：历史文化街区 + 商业文旅融合示范区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270256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75080" y="265176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流量基础：日均客流数万人次，节假日峰值翻倍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5120640" cy="38404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28016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28016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业态与特色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206248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2920" y="201168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餐饮美食：邯郸特色小吃、老字号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238252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2920" y="233172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文化体验：非遗展示、汉服体验、成语文化</a:t>
            </a:r>
          </a:p>
        </p:txBody>
      </p:sp>
      <p:sp>
        <p:nvSpPr>
          <p:cNvPr id="23" name="Oval 22"/>
          <p:cNvSpPr/>
          <p:nvPr/>
        </p:nvSpPr>
        <p:spPr>
          <a:xfrm>
            <a:off x="6675120" y="270256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2920" y="265176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商业配套：文创商店、民宿酒店、演艺空间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0" y="30226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2920" y="297180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网红属性：抖音/小红书热门打卡地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303520"/>
            <a:ext cx="10332720" cy="731520"/>
          </a:xfrm>
          <a:prstGeom prst="roundRect">
            <a:avLst/>
          </a:prstGeom>
          <a:solidFill>
            <a:srgbClr val="151A10"/>
          </a:solidFill>
          <a:ln w="6350">
            <a:solidFill>
              <a:srgbClr val="4A3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/>
            <a:r>
              <a:rPr sz="1600" b="1">
                <a:solidFill>
                  <a:srgbClr val="C9A84C"/>
                </a:solidFill>
                <a:latin typeface="Microsoft YaHei"/>
              </a:rPr>
              <a:t>🏆 邯郸道</a:t>
            </a:r>
            <a:r>
              <a:rPr sz="1400">
                <a:solidFill>
                  <a:srgbClr val="B3B3B3"/>
                </a:solidFill>
                <a:latin typeface="Microsoft YaHei"/>
              </a:rPr>
              <a:t>——浓缩三千年邯郸文脉，是展示城市形象的第一窗口，也是数字化监测的最佳试验田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为什么先做邯郸道？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011680" cy="27432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182880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6032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流量大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017520"/>
            <a:ext cx="173736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全市最热门打卡地</a:t>
            </a:r>
            <a:br/>
            <a:r>
              <a:t>试点效果最显著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645920"/>
            <a:ext cx="2011680" cy="27432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82880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56032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业态全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3017520"/>
            <a:ext cx="173736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餐饮/住宿/零售/演艺</a:t>
            </a:r>
            <a:br/>
            <a:r>
              <a:t>数据维度最丰富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645920"/>
            <a:ext cx="2011680" cy="27432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182880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🏗️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256032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基础好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3017520"/>
            <a:ext cx="173736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已有智能化设施</a:t>
            </a:r>
            <a:br/>
            <a:r>
              <a:t>对接成本低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645920"/>
            <a:ext cx="2011680" cy="27432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2880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56032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影响力大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80" y="3017520"/>
            <a:ext cx="173736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试点成功</a:t>
            </a:r>
            <a:br/>
            <a:r>
              <a:t>全市推广顺理成章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645920"/>
            <a:ext cx="2011680" cy="27432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32720" y="182880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256032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问题典型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80" y="3017520"/>
            <a:ext cx="173736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节假日拥堵、舆情集中</a:t>
            </a:r>
            <a:br/>
            <a:r>
              <a:t>最能检验系统能力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937760"/>
            <a:ext cx="10332720" cy="548640"/>
          </a:xfrm>
          <a:prstGeom prst="roundRect">
            <a:avLst/>
          </a:prstGeom>
          <a:solidFill>
            <a:srgbClr val="151A10"/>
          </a:solidFill>
          <a:ln w="6350">
            <a:solidFill>
              <a:srgbClr val="4A3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C9A84C"/>
                </a:solidFill>
                <a:latin typeface="Microsoft YaHei"/>
              </a:defRPr>
            </a:pPr>
            <a:r>
              <a:t>🎯 策略：先在一个点上做透、做出标杆效果，再以点带面，快速复制推广至全市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邯郸道试点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097280"/>
            <a:ext cx="2560320" cy="365760"/>
          </a:xfrm>
          <a:prstGeom prst="roundRect">
            <a:avLst/>
          </a:prstGeom>
          <a:solidFill>
            <a:srgbClr val="2A240A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9A84C"/>
                </a:solidFill>
                <a:latin typeface="Microsoft YaHei"/>
              </a:defRPr>
            </a:pPr>
            <a:r>
              <a:t>一期（3 个月）重点部署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219456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874520"/>
            <a:ext cx="4114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客流监测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42824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3640" y="237744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街区出入口闸机/摄像头数据接入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274828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3640" y="269748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实时热力图（密度 &gt;2人/m² 自动预警）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06832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3640" y="301752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节假日客流预测模型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737360"/>
            <a:ext cx="5212080" cy="219456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874520"/>
            <a:ext cx="4114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商户数据采集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42824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1480" y="237744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接入 50+ 重点商户 POS 数据（脱敏聚合）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74828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1480" y="269748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消费结构分析（餐饮占比、客单价）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06832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1480" y="301752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高峰时段分析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06240"/>
            <a:ext cx="5212080" cy="219456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4343400"/>
            <a:ext cx="4114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舆情专项监测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" y="489712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3640" y="484632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"邯郸道"关键词全渠道监听</a:t>
            </a:r>
          </a:p>
        </p:txBody>
      </p:sp>
      <p:sp>
        <p:nvSpPr>
          <p:cNvPr id="31" name="Oval 30"/>
          <p:cNvSpPr/>
          <p:nvPr/>
        </p:nvSpPr>
        <p:spPr>
          <a:xfrm>
            <a:off x="1005840" y="521716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83640" y="516636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网红打卡点评价追踪</a:t>
            </a:r>
          </a:p>
        </p:txBody>
      </p:sp>
      <p:sp>
        <p:nvSpPr>
          <p:cNvPr id="33" name="Oval 32"/>
          <p:cNvSpPr/>
          <p:nvPr/>
        </p:nvSpPr>
        <p:spPr>
          <a:xfrm>
            <a:off x="1005840" y="55372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83640" y="548640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投诉工单 30 分钟内推送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206240"/>
            <a:ext cx="5212080" cy="219456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434340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4343400"/>
            <a:ext cx="4114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安全应急</a:t>
            </a:r>
          </a:p>
        </p:txBody>
      </p:sp>
      <p:sp>
        <p:nvSpPr>
          <p:cNvPr id="38" name="Oval 37"/>
          <p:cNvSpPr/>
          <p:nvPr/>
        </p:nvSpPr>
        <p:spPr>
          <a:xfrm>
            <a:off x="6583680" y="489712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61480" y="484632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拥挤度四色预警大屏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0" y="521716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61480" y="516636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应急疏散预案一键启动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55372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61480" y="548640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B3B3B3"/>
                </a:solidFill>
                <a:latin typeface="Microsoft YaHei"/>
              </a:defRPr>
            </a:pPr>
            <a:r>
              <a:t>消防/公安/城管联动接口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邯郸道试点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371600"/>
          <a:ext cx="10332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3200400"/>
                <a:gridCol w="2286000"/>
              </a:tblGrid>
              <a:tr h="57912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C9A84C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18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9A84C"/>
                          </a:solidFill>
                          <a:latin typeface="Microsoft YaHei"/>
                        </a:defRPr>
                      </a:pPr>
                      <a:r>
                        <a:t>试点前</a:t>
                      </a:r>
                    </a:p>
                  </a:txBody>
                  <a:tcPr>
                    <a:solidFill>
                      <a:srgbClr val="1A18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9A84C"/>
                          </a:solidFill>
                          <a:latin typeface="Microsoft YaHei"/>
                        </a:defRPr>
                      </a:pPr>
                      <a:r>
                        <a:t>试点后目标</a:t>
                      </a:r>
                    </a:p>
                  </a:txBody>
                  <a:tcPr>
                    <a:solidFill>
                      <a:srgbClr val="1A18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9A84C"/>
                          </a:solidFill>
                          <a:latin typeface="Microsoft YaHei"/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1A180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客流预警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3B3B3"/>
                          </a:solidFill>
                          <a:latin typeface="Microsoft YaHei"/>
                        </a:defRPr>
                      </a:pPr>
                      <a:r>
                        <a:t>事后处置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CC71"/>
                          </a:solidFill>
                          <a:latin typeface="Microsoft YaHei"/>
                        </a:defRPr>
                      </a:pPr>
                      <a:r>
                        <a:t>事前 30 分钟预警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CC71"/>
                          </a:solidFill>
                          <a:latin typeface="Microsoft YaHei"/>
                        </a:defRPr>
                      </a:pPr>
                      <a:r>
                        <a:t>⬆ 质的飞跃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舆情发现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3B3B3"/>
                          </a:solidFill>
                          <a:latin typeface="Microsoft YaHei"/>
                        </a:defRPr>
                      </a:pPr>
                      <a:r>
                        <a:t>小时级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CC71"/>
                          </a:solidFill>
                          <a:latin typeface="Microsoft YaHei"/>
                        </a:defRPr>
                      </a:pPr>
                      <a:r>
                        <a:t>分钟级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CC71"/>
                          </a:solidFill>
                          <a:latin typeface="Microsoft YaHei"/>
                        </a:defRPr>
                      </a:pPr>
                      <a:r>
                        <a:t>⬆ 10 倍提速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数据报表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3B3B3"/>
                          </a:solidFill>
                          <a:latin typeface="Microsoft YaHei"/>
                        </a:defRPr>
                      </a:pPr>
                      <a:r>
                        <a:t>人工统计（天级）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CC71"/>
                          </a:solidFill>
                          <a:latin typeface="Microsoft YaHei"/>
                        </a:defRPr>
                      </a:pPr>
                      <a:r>
                        <a:t>自动生成（实时）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CC71"/>
                          </a:solidFill>
                          <a:latin typeface="Microsoft YaHei"/>
                        </a:defRPr>
                      </a:pPr>
                      <a:r>
                        <a:t>⬆ 效率革命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节假日调度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3B3B3"/>
                          </a:solidFill>
                          <a:latin typeface="Microsoft YaHei"/>
                        </a:defRPr>
                      </a:pPr>
                      <a:r>
                        <a:t>经验判断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CC71"/>
                          </a:solidFill>
                          <a:latin typeface="Microsoft YaHei"/>
                        </a:defRPr>
                      </a:pPr>
                      <a:r>
                        <a:t>数据驱动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CC71"/>
                          </a:solidFill>
                          <a:latin typeface="Microsoft YaHei"/>
                        </a:defRPr>
                      </a:pPr>
                      <a:r>
                        <a:t>⬆ 科学决策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商户营收分析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3B3B3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CC71"/>
                          </a:solidFill>
                          <a:latin typeface="Microsoft YaHei"/>
                        </a:defRPr>
                      </a:pPr>
                      <a:r>
                        <a:t>全景画像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ECC71"/>
                          </a:solidFill>
                          <a:latin typeface="Microsoft YaHei"/>
                        </a:defRPr>
                      </a:pPr>
                      <a:r>
                        <a:t>⬆ 从 0 到 1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5303520"/>
            <a:ext cx="10332720" cy="731520"/>
          </a:xfrm>
          <a:prstGeom prst="roundRect">
            <a:avLst/>
          </a:prstGeom>
          <a:solidFill>
            <a:srgbClr val="151A10"/>
          </a:solidFill>
          <a:ln w="6350">
            <a:solidFill>
              <a:srgbClr val="4A3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📺 可视化成果：</a:t>
            </a:r>
            <a:r>
              <a:rPr sz="1400">
                <a:solidFill>
                  <a:srgbClr val="B3B3B3"/>
                </a:solidFill>
                <a:latin typeface="Microsoft YaHei"/>
              </a:rPr>
              <a:t>邯郸道"数字孪生"大屏——一屏掌握全街区运行状态，领导视察、对外展示的最佳窗口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邯郸道试点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188720"/>
            <a:ext cx="94183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808080"/>
                </a:solidFill>
                <a:latin typeface="Microsoft YaHei"/>
              </a:defRPr>
            </a:pPr>
            <a:r>
              <a:t>一套系统、多种场景，从邯郸道出发，逐步覆盖全市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2560320" cy="3200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2194560"/>
            <a:ext cx="16459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🏘️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834640"/>
            <a:ext cx="2194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9A84C"/>
                </a:solidFill>
                <a:latin typeface="Microsoft YaHei"/>
              </a:defRPr>
            </a:pPr>
            <a:r>
              <a:t>邯郸道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0040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9A84C"/>
                </a:solidFill>
                <a:latin typeface="Microsoft YaHei"/>
              </a:defRPr>
            </a:pPr>
            <a:r>
              <a:t>街区型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66160"/>
            <a:ext cx="21945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历史文化商业街区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21945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9A84C"/>
                </a:solidFill>
                <a:latin typeface="Microsoft YaHei"/>
              </a:defRPr>
            </a:pPr>
            <a:r>
              <a:t>✅ 一期试点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011680"/>
            <a:ext cx="2560320" cy="32004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0" y="2194560"/>
            <a:ext cx="16459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2834640"/>
            <a:ext cx="2194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广府古城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320040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9A84C"/>
                </a:solidFill>
                <a:latin typeface="Microsoft YaHei"/>
              </a:defRPr>
            </a:pPr>
            <a:r>
              <a:t>古城型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3566160"/>
            <a:ext cx="21945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封闭式景区管理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4114800"/>
            <a:ext cx="21945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98DB"/>
                </a:solidFill>
                <a:latin typeface="Microsoft YaHei"/>
              </a:defRPr>
            </a:pPr>
            <a:r>
              <a:t>📋 二期推广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011680"/>
            <a:ext cx="2560320" cy="32004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2194560"/>
            <a:ext cx="16459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⛰️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834640"/>
            <a:ext cx="2194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娲皇宫 / 京娘湖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20040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9A84C"/>
                </a:solidFill>
                <a:latin typeface="Microsoft YaHei"/>
              </a:defRPr>
            </a:pPr>
            <a:r>
              <a:t>山岳/生态型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566160"/>
            <a:ext cx="21945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开放式自然景观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114800"/>
            <a:ext cx="21945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98DB"/>
                </a:solidFill>
                <a:latin typeface="Microsoft YaHei"/>
              </a:defRPr>
            </a:pPr>
            <a:r>
              <a:t>📋 二期推广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2011680"/>
            <a:ext cx="2560320" cy="32004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2194560"/>
            <a:ext cx="16459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🏛️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2834640"/>
            <a:ext cx="2194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邯郸市博物馆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320040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9A84C"/>
                </a:solidFill>
                <a:latin typeface="Microsoft YaHei"/>
              </a:defRPr>
            </a:pPr>
            <a:r>
              <a:t>文博型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3566160"/>
            <a:ext cx="21945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室内场馆管理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4114800"/>
            <a:ext cx="21945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98DB"/>
                </a:solidFill>
                <a:latin typeface="Microsoft YaHei"/>
              </a:defRPr>
            </a:pPr>
            <a:r>
              <a:t>📋 二期推广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120640" cy="38404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🔧 技术栈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197104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75080" y="192024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前端：Vue3 + ECharts + DataV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29108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75080" y="224028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后端：Spring Boot + Python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261112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75080" y="256032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数据库：PostgreSQL + Redis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293116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75080" y="288036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实时计算：Apache Flink / Kafka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32512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75080" y="320040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AI 模型：通义千问 / 文心一言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188720"/>
            <a:ext cx="5120640" cy="384048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1280160"/>
            <a:ext cx="4572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🔒 安全与合规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197104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2920" y="192024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部署：本地服务器 + 政务云混合</a:t>
            </a:r>
          </a:p>
        </p:txBody>
      </p:sp>
      <p:sp>
        <p:nvSpPr>
          <p:cNvPr id="23" name="Oval 22"/>
          <p:cNvSpPr/>
          <p:nvPr/>
        </p:nvSpPr>
        <p:spPr>
          <a:xfrm>
            <a:off x="6675120" y="229108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2920" y="224028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等保三级认证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0" y="261112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2920" y="256032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游客隐私数据脱敏处理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293116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2920" y="2880360"/>
            <a:ext cx="5029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B3B3B3"/>
                </a:solidFill>
                <a:latin typeface="Microsoft YaHei"/>
              </a:defRPr>
            </a:pPr>
            <a:r>
              <a:t>符合《数据安全法》《个人信息保护法》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566160"/>
            <a:ext cx="4572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C9A84C"/>
                </a:solidFill>
                <a:latin typeface="Microsoft YaHei"/>
              </a:defRPr>
            </a:pPr>
            <a:r>
              <a:t>核心原则：自主可控、数据安全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303520"/>
            <a:ext cx="10332720" cy="640080"/>
          </a:xfrm>
          <a:prstGeom prst="roundRect">
            <a:avLst/>
          </a:prstGeom>
          <a:solidFill>
            <a:srgbClr val="151A10"/>
          </a:solidFill>
          <a:ln w="6350">
            <a:solidFill>
              <a:srgbClr val="4A3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C9A84C"/>
                </a:solidFill>
                <a:latin typeface="Microsoft YaHei"/>
              </a:defRPr>
            </a:pPr>
            <a:r>
              <a:t>💡 采用国产化技术栈，确保系统安全可控；优先利用已有政务基础设施，降低建设成本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实施路径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54864" cy="11887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188720"/>
            <a:ext cx="10241280" cy="1188720"/>
          </a:xfrm>
          <a:prstGeom prst="roundRect">
            <a:avLst/>
          </a:prstGeom>
          <a:solidFill>
            <a:srgbClr val="11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1463040"/>
            <a:ext cx="1097280" cy="365760"/>
          </a:xfrm>
          <a:prstGeom prst="roundRect">
            <a:avLst/>
          </a:prstGeom>
          <a:solidFill>
            <a:srgbClr val="2A240A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9A84C"/>
                </a:solidFill>
                <a:latin typeface="Microsoft YaHei"/>
              </a:defRPr>
            </a:pPr>
            <a:r>
              <a:t>一期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3716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 个月 · 试点突破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8288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邯郸道试点：客流 + 舆情 + 消费 + 安全 + 领导驾驶舱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325880"/>
            <a:ext cx="1371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2800" b="1">
                <a:solidFill>
                  <a:srgbClr val="C9A84C"/>
                </a:solidFill>
                <a:latin typeface="Noto Serif SC"/>
              </a:defRPr>
            </a:pPr>
            <a:r>
              <a:t>80-120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0" y="1691640"/>
            <a:ext cx="731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万元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51760"/>
            <a:ext cx="54864" cy="11887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2651760"/>
            <a:ext cx="10241280" cy="1188720"/>
          </a:xfrm>
          <a:prstGeom prst="roundRect">
            <a:avLst/>
          </a:prstGeom>
          <a:solidFill>
            <a:srgbClr val="11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88720" y="2926080"/>
            <a:ext cx="1097280" cy="365760"/>
          </a:xfrm>
          <a:prstGeom prst="roundRect">
            <a:avLst/>
          </a:prstGeom>
          <a:solidFill>
            <a:srgbClr val="0A1A2A"/>
          </a:solidFill>
          <a:ln w="635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98DB"/>
                </a:solidFill>
                <a:latin typeface="Microsoft YaHei"/>
              </a:defRPr>
            </a:pPr>
            <a:r>
              <a:t>二期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834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3-6 个月 · 全市推广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2918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5 大景区接入 + 手机信令 + AI 舆情深度分析 + 移动端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788920"/>
            <a:ext cx="1371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2800" b="1">
                <a:solidFill>
                  <a:srgbClr val="3498DB"/>
                </a:solidFill>
                <a:latin typeface="Noto Serif SC"/>
              </a:defRPr>
            </a:pPr>
            <a:r>
              <a:t>150-200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0" y="3154680"/>
            <a:ext cx="731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万元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114800"/>
            <a:ext cx="54864" cy="118872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4114800"/>
            <a:ext cx="10241280" cy="1188720"/>
          </a:xfrm>
          <a:prstGeom prst="roundRect">
            <a:avLst/>
          </a:prstGeom>
          <a:solidFill>
            <a:srgbClr val="11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8720" y="4389120"/>
            <a:ext cx="1097280" cy="365760"/>
          </a:xfrm>
          <a:prstGeom prst="roundRect">
            <a:avLst/>
          </a:prstGeom>
          <a:solidFill>
            <a:srgbClr val="0A2A1A"/>
          </a:solidFill>
          <a:ln w="63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三期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29768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6-12 个月 · 智能决策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475488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客流预测模型 + 营销效果评估 + 省级/国家级平台对接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4251960"/>
            <a:ext cx="1371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2800" b="1">
                <a:solidFill>
                  <a:srgbClr val="2ECC71"/>
                </a:solidFill>
                <a:latin typeface="Noto Serif SC"/>
              </a:defRPr>
            </a:pPr>
            <a:r>
              <a:t>200-300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4617720"/>
            <a:ext cx="731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万元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669280"/>
            <a:ext cx="10332720" cy="548640"/>
          </a:xfrm>
          <a:prstGeom prst="roundRect">
            <a:avLst/>
          </a:prstGeom>
          <a:solidFill>
            <a:srgbClr val="151A10"/>
          </a:solidFill>
          <a:ln w="6350">
            <a:solidFill>
              <a:srgbClr val="4A3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C9A84C"/>
                </a:solidFill>
                <a:latin typeface="Microsoft YaHei"/>
              </a:defRPr>
            </a:pPr>
            <a:r>
              <a:t>🎯 策略：一期先跑通、快速出成果，用实际效果争取后续资金；避免"大而全、久不落地"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资金筹措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371600"/>
            <a:ext cx="9418320" cy="9144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4480" y="150876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🏛️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508760"/>
            <a:ext cx="7772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省级专项资金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874520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包装为"数字经济 + 文旅融合"项目，申请省级数字化转型专项资金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560320"/>
            <a:ext cx="9418320" cy="9144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54480" y="269748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697480"/>
            <a:ext cx="7772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市级财政配套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063240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纳入市级年度重点信息化建设项目，财政预算保障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749040"/>
            <a:ext cx="9418320" cy="9144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88620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886200"/>
            <a:ext cx="7772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政企合作共建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4251960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探索与运营商（移动/联通）、OTA 平台（携程/美团）合作共建模式，分摊成本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937760"/>
            <a:ext cx="9418320" cy="9144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54480" y="507492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5074920"/>
            <a:ext cx="7772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高校科研合作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5440680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与河北工大、邯郸学院共建实验室，降低研发成本，培养本地人才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预期效益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60320" cy="32004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3716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1645920"/>
            <a:ext cx="16459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0">
                <a:solidFill>
                  <a:srgbClr val="FFFFFF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77440"/>
            <a:ext cx="23774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管理效能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26080"/>
            <a:ext cx="219456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B3B3B3"/>
                </a:solidFill>
                <a:latin typeface="Microsoft YaHei"/>
              </a:rPr>
              <a:t>从"事后处置"到"事前预警"</a:t>
            </a:r>
          </a:p>
          <a:p>
            <a:pPr algn="ctr"/>
            <a:r>
              <a:rPr sz="1800" b="1">
                <a:solidFill>
                  <a:srgbClr val="B3B3B3"/>
                </a:solidFill>
                <a:latin typeface="Microsoft YaHei"/>
              </a:rPr>
              <a:t>管理效率提升 5 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371600"/>
            <a:ext cx="2560320" cy="32004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3716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645920"/>
            <a:ext cx="16459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0">
                <a:solidFill>
                  <a:srgbClr val="FFFFFF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377440"/>
            <a:ext cx="23774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经济效益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2926080"/>
            <a:ext cx="219456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B3B3B3"/>
                </a:solidFill>
                <a:latin typeface="Microsoft YaHei"/>
              </a:rPr>
              <a:t>精准营销投放</a:t>
            </a:r>
          </a:p>
          <a:p>
            <a:pPr algn="ctr"/>
            <a:r>
              <a:rPr sz="1800" b="1">
                <a:solidFill>
                  <a:srgbClr val="C9A84C"/>
                </a:solidFill>
                <a:latin typeface="Microsoft YaHei"/>
              </a:rPr>
              <a:t>提升文旅收入 10-15%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2560320" cy="32004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3716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1645920"/>
            <a:ext cx="16459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0">
                <a:solidFill>
                  <a:srgbClr val="FFFFFF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377440"/>
            <a:ext cx="23774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安全保障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926080"/>
            <a:ext cx="219456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B3B3B3"/>
                </a:solidFill>
                <a:latin typeface="Microsoft YaHei"/>
              </a:rPr>
              <a:t>重大安全事件零发生</a:t>
            </a:r>
          </a:p>
          <a:p>
            <a:pPr algn="ctr"/>
            <a:r>
              <a:rPr sz="1800" b="1">
                <a:solidFill>
                  <a:srgbClr val="2ECC71"/>
                </a:solidFill>
                <a:latin typeface="Microsoft YaHei"/>
              </a:rPr>
              <a:t>应急响应分钟级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371600"/>
            <a:ext cx="2560320" cy="320040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3716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1645920"/>
            <a:ext cx="16459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0">
                <a:solidFill>
                  <a:srgbClr val="FFFFFF"/>
                </a:solidFill>
                <a:latin typeface="Microsoft YaHei"/>
              </a:defRPr>
            </a:pPr>
            <a:r>
              <a:t>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377440"/>
            <a:ext cx="23774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城市品牌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2926080"/>
            <a:ext cx="219456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B3B3B3"/>
                </a:solidFill>
                <a:latin typeface="Microsoft YaHei"/>
              </a:rPr>
              <a:t>打造河北文旅数字化标杆</a:t>
            </a:r>
          </a:p>
          <a:p>
            <a:pPr algn="ctr"/>
            <a:r>
              <a:rPr sz="1800" b="1">
                <a:solidFill>
                  <a:srgbClr val="B3B3B3"/>
                </a:solidFill>
                <a:latin typeface="Microsoft YaHei"/>
              </a:rPr>
              <a:t>全国示范案例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29200"/>
            <a:ext cx="10332720" cy="731520"/>
          </a:xfrm>
          <a:prstGeom prst="roundRect">
            <a:avLst/>
          </a:prstGeom>
          <a:solidFill>
            <a:srgbClr val="151A10"/>
          </a:solidFill>
          <a:ln w="6350">
            <a:solidFill>
              <a:srgbClr val="4A3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📊 数据资产沉淀：</a:t>
            </a:r>
            <a:r>
              <a:rPr sz="1400">
                <a:solidFill>
                  <a:srgbClr val="B3B3B3"/>
                </a:solidFill>
                <a:latin typeface="Microsoft YaHei"/>
              </a:rPr>
              <a:t>形成全市文旅数据资源库，为未来城市规划、产业布局提供底层数据支撑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200" b="1">
                <a:solidFill>
                  <a:srgbClr val="203555"/>
                </a:solidFill>
                <a:latin typeface="Noto Serif SC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3657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下一步工作建议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502920"/>
            <a:ext cx="21031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280160"/>
            <a:ext cx="9418320" cy="7772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1444752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628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389888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成立工作专班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719072"/>
            <a:ext cx="7772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市文旅局牵头，大数据局、各景区、邯郸道管委会共同参与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286000"/>
            <a:ext cx="9418320" cy="7772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45920" y="2450592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62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395728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开展需求调研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724912"/>
            <a:ext cx="7772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走访邯郸道及重点景区，摸清现有数据基础、接口条件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291840"/>
            <a:ext cx="9418320" cy="7772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45920" y="3456432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62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401568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试点方案设计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730752"/>
            <a:ext cx="7772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完成邯郸道试点技术方案论证，确定建设清单和对接计划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297680"/>
            <a:ext cx="9418320" cy="7772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45920" y="4462272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62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4407408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资金申报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736592"/>
            <a:ext cx="7772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包装项目材料，申报省级"数字经济 + 文旅融合"专项资金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303520"/>
            <a:ext cx="9418320" cy="777240"/>
          </a:xfrm>
          <a:prstGeom prst="roundRect">
            <a:avLst/>
          </a:prstGeom>
          <a:solidFill>
            <a:srgbClr val="112240"/>
          </a:solidFill>
          <a:ln w="6350">
            <a:solidFill>
              <a:srgbClr val="1A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45920" y="5468112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628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5413248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招标采购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5742432"/>
            <a:ext cx="7772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808080"/>
                </a:solidFill>
                <a:latin typeface="Microsoft YaHei"/>
              </a:defRPr>
            </a:pPr>
            <a:r>
              <a:t>一季度完成方案论证和招标，确保年内上线试运行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457200"/>
            <a:ext cx="6705295" cy="5943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77840" y="914400"/>
            <a:ext cx="1097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400" b="0">
                <a:solidFill>
                  <a:srgbClr val="FFFFFF"/>
                </a:solidFill>
                <a:latin typeface="Microsoft YaHei"/>
              </a:defRPr>
            </a:pPr>
            <a:r>
              <a:t>🏯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94560"/>
            <a:ext cx="941832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以</a:t>
            </a:r>
            <a:r>
              <a:rPr sz="3600" b="1">
                <a:solidFill>
                  <a:srgbClr val="C9A84C"/>
                </a:solidFill>
                <a:latin typeface="Microsoft YaHei"/>
              </a:rPr>
              <a:t>邯郸道</a:t>
            </a:r>
            <a:r>
              <a:rPr sz="3600" b="1">
                <a:solidFill>
                  <a:srgbClr val="FFFFFF"/>
                </a:solidFill>
                <a:latin typeface="Microsoft YaHei"/>
              </a:rPr>
              <a:t>为试点
打造邯郸文旅数字化</a:t>
            </a:r>
            <a:r>
              <a:rPr sz="3600" b="1">
                <a:solidFill>
                  <a:srgbClr val="C9A84C"/>
                </a:solidFill>
                <a:latin typeface="Microsoft YaHei"/>
              </a:rPr>
              <a:t>第一张名片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4846320"/>
            <a:ext cx="85039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0">
                <a:solidFill>
                  <a:srgbClr val="808080"/>
                </a:solidFill>
                <a:latin typeface="Microsoft YaHei"/>
              </a:defRPr>
            </a:pPr>
            <a:r>
              <a:t>妥 否 ， 请 批 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4D4D4D"/>
                </a:solidFill>
                <a:latin typeface="Microsoft YaHei"/>
              </a:defRPr>
            </a:pPr>
            <a:r>
              <a:t>邯郸市规划设计院  ·  2026 年 4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