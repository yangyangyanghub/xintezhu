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32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32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邯郸市规划设计院</a:t>
            </a:r>
            <a:endParaRPr sz="44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50B4FF"/>
                </a:solidFill>
              </a:rPr>
              <a:t>测绘地理信息服务</a:t>
            </a:r>
            <a:endParaRPr sz="4400" b="1">
              <a:solidFill>
                <a:srgbClr val="50B4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C8DCFF"/>
                </a:solidFill>
              </a:rPr>
              <a:t>——面向文旅高质量发展的空间数据支撑方案</a:t>
            </a:r>
            <a:endParaRPr sz="2400" b="0">
              <a:solidFill>
                <a:srgbClr val="C8DCFF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00400" y="4114800"/>
            <a:ext cx="5788152" cy="36576"/>
          </a:xfrm>
          <a:prstGeom prst="rect">
            <a:avLst/>
          </a:prstGeom>
          <a:solidFill>
            <a:srgbClr val="C8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B4C8E6"/>
                </a:solidFill>
              </a:rPr>
              <a:t>邯郸市文化广电和旅游局</a:t>
            </a:r>
            <a:endParaRPr sz="2200" b="0">
              <a:solidFill>
                <a:srgbClr val="B4C8E6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CA0BE"/>
                </a:solidFill>
              </a:rPr>
              <a:t>2026年5月</a:t>
            </a:r>
            <a:endParaRPr sz="1800" b="0">
              <a:solidFill>
                <a:srgbClr val="8CA0BE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行业背景：邯郸文旅爆发式增长</a:t>
            </a:r>
            <a:endParaRPr sz="2800" b="1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0040" y="1097280"/>
            <a:ext cx="2651760" cy="1920240"/>
          </a:xfrm>
          <a:prstGeom prst="rect">
            <a:avLst/>
          </a:prstGeom>
          <a:solidFill>
            <a:srgbClr val="32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59" y="123444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1033.82万</a:t>
            </a:r>
            <a:endParaRPr sz="28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59" y="199339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DCEBFF"/>
                </a:solidFill>
              </a:rPr>
              <a:t>五一接待游客</a:t>
            </a:r>
            <a:endParaRPr sz="1500" b="0">
              <a:solidFill>
                <a:srgbClr val="DCEB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59" y="24505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8DCFF"/>
                </a:solidFill>
              </a:rPr>
              <a:t>+50%+</a:t>
            </a:r>
            <a:endParaRPr sz="1300" b="0">
              <a:solidFill>
                <a:srgbClr val="C8DCFF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46120" y="1097280"/>
            <a:ext cx="2651760" cy="1920240"/>
          </a:xfrm>
          <a:prstGeom prst="rect">
            <a:avLst/>
          </a:prstGeom>
          <a:solidFill>
            <a:srgbClr val="C8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23444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25-28亿</a:t>
            </a:r>
            <a:endParaRPr sz="2800" b="1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91840" y="199339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DCEBFF"/>
                </a:solidFill>
              </a:rPr>
              <a:t>五一旅游收入</a:t>
            </a:r>
            <a:endParaRPr sz="1500" b="0">
              <a:solidFill>
                <a:srgbClr val="DCEB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91840" y="24505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8DCFF"/>
                </a:solidFill>
              </a:rPr>
              <a:t>同比+50%+</a:t>
            </a:r>
            <a:endParaRPr sz="1300" b="0">
              <a:solidFill>
                <a:srgbClr val="C8DCFF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172200" y="1097280"/>
            <a:ext cx="2651760" cy="1920240"/>
          </a:xfrm>
          <a:prstGeom prst="rect">
            <a:avLst/>
          </a:prstGeom>
          <a:solidFill>
            <a:srgbClr val="3C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23444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70%↑</a:t>
            </a:r>
            <a:endParaRPr sz="2800" b="1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17920" y="199339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DCEBFF"/>
                </a:solidFill>
              </a:rPr>
              <a:t>广府古城客流</a:t>
            </a:r>
            <a:endParaRPr sz="1500" b="0">
              <a:solidFill>
                <a:srgbClr val="DCEB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17920" y="24505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8DCFF"/>
                </a:solidFill>
              </a:rPr>
              <a:t>历史新高</a:t>
            </a:r>
            <a:endParaRPr sz="1300" b="0">
              <a:solidFill>
                <a:srgbClr val="C8DCFF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098280" y="1097280"/>
            <a:ext cx="2651760" cy="1920240"/>
          </a:xfrm>
          <a:prstGeom prst="rect">
            <a:avLst/>
          </a:prstGeom>
          <a:solidFill>
            <a:srgbClr val="A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23444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104%↑</a:t>
            </a:r>
            <a:endParaRPr sz="2800" b="1">
              <a:solidFill>
                <a:srgbClr val="FFFF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0" y="199339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DCEBFF"/>
                </a:solidFill>
              </a:rPr>
              <a:t>广府古城收入</a:t>
            </a:r>
            <a:endParaRPr sz="1500" b="0">
              <a:solidFill>
                <a:srgbClr val="DCEB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44000" y="24505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8DCFF"/>
                </a:solidFill>
              </a:rPr>
              <a:t>客单价提升</a:t>
            </a:r>
            <a:endParaRPr sz="1300" b="0">
              <a:solidFill>
                <a:srgbClr val="C8DCFF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20040" y="3246120"/>
            <a:ext cx="11521440" cy="36576"/>
          </a:xfrm>
          <a:prstGeom prst="rect">
            <a:avLst/>
          </a:prstGeom>
          <a:solidFill>
            <a:srgbClr val="32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3383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A1E3C"/>
                </a:solidFill>
              </a:rPr>
              <a:t>关键趋势：流量向留量转化，消费升级提速</a:t>
            </a:r>
            <a:endParaRPr sz="1800" b="1">
              <a:solidFill>
                <a:srgbClr val="0A1E3C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20040" y="3886200"/>
            <a:ext cx="115214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9319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1E37"/>
                </a:solidFill>
              </a:rPr>
              <a:t>  邯郸道历史文化街区：累计接待2800万人次，成语IP直接转化为消费</a:t>
            </a:r>
            <a:endParaRPr sz="1400" b="0">
              <a:solidFill>
                <a:srgbClr val="1E1E37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20040" y="4416552"/>
            <a:ext cx="11521440" cy="4572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446227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1E37"/>
                </a:solidFill>
              </a:rPr>
              <a:t>  广府古城：民宿经济兴起，游客从"过路游"向"过夜游"转变</a:t>
            </a:r>
            <a:endParaRPr sz="1400" b="0">
              <a:solidFill>
                <a:srgbClr val="1E1E37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20040" y="4946904"/>
            <a:ext cx="115214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992624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1E37"/>
                </a:solidFill>
              </a:rPr>
              <a:t>  首届露营生活季启幕，十大自然营地全面启动，外地游客占比超三成</a:t>
            </a:r>
            <a:endParaRPr sz="1400" b="0">
              <a:solidFill>
                <a:srgbClr val="1E1E37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20040" y="5477256"/>
            <a:ext cx="11521440" cy="4572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5522975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1E37"/>
                </a:solidFill>
              </a:rPr>
              <a:t>  携程"深度文化游"热门目的地全国前十，成语之都全国唯一</a:t>
            </a:r>
            <a:endParaRPr sz="1400" b="0">
              <a:solidFill>
                <a:srgbClr val="1E1E37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6AAC8"/>
                </a:solidFill>
              </a:rPr>
              <a:t>数据来源：邯郸市文旅部门 / 携程《2026年度五一出游总结报告》/ 中国旅游研究院</a:t>
            </a:r>
            <a:endParaRPr sz="1100" b="0">
              <a:solidFill>
                <a:srgbClr val="96AAC8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核心挑战与测绘机遇</a:t>
            </a:r>
            <a:endParaRPr sz="2800" b="1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5394960" cy="457200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⚠  报告揭示的核心短板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1600200"/>
            <a:ext cx="539496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109728" cy="685800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3677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1E32"/>
                </a:solidFill>
              </a:rPr>
              <a:t>住宿承载力不足</a:t>
            </a:r>
            <a:endParaRPr sz="1400" b="1">
              <a:solidFill>
                <a:srgbClr val="1E1E3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94767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6E82"/>
                </a:solidFill>
              </a:rPr>
              <a:t>五一满房率95%+</a:t>
            </a:r>
            <a:endParaRPr sz="1100" b="0">
              <a:solidFill>
                <a:srgbClr val="6E6E82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0040" y="2359152"/>
            <a:ext cx="539496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359152"/>
            <a:ext cx="109728" cy="685800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957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1E32"/>
                </a:solidFill>
              </a:rPr>
              <a:t>交通拥堵严重</a:t>
            </a:r>
            <a:endParaRPr sz="1400" b="1">
              <a:solidFill>
                <a:srgbClr val="1E1E32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270662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6E82"/>
                </a:solidFill>
              </a:rPr>
              <a:t>核心景区周边停车难、拥堵问题突出</a:t>
            </a:r>
            <a:endParaRPr sz="1100" b="0">
              <a:solidFill>
                <a:srgbClr val="6E6E82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0040" y="3118104"/>
            <a:ext cx="539496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118104"/>
            <a:ext cx="109728" cy="685800"/>
          </a:xfrm>
          <a:prstGeom prst="rect">
            <a:avLst/>
          </a:prstGeom>
          <a:solidFill>
            <a:srgbClr val="DCB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154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1E32"/>
                </a:solidFill>
              </a:rPr>
              <a:t>景区承载力瓶颈</a:t>
            </a:r>
            <a:endParaRPr sz="1400" b="1">
              <a:solidFill>
                <a:srgbClr val="1E1E32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" y="346557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6E82"/>
                </a:solidFill>
              </a:rPr>
              <a:t>邯郸道单日或超20万人次</a:t>
            </a:r>
            <a:endParaRPr sz="1100" b="0">
              <a:solidFill>
                <a:srgbClr val="6E6E82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20040" y="3877056"/>
            <a:ext cx="539496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877056"/>
            <a:ext cx="109728" cy="685800"/>
          </a:xfrm>
          <a:prstGeom prst="rect">
            <a:avLst/>
          </a:prstGeom>
          <a:solidFill>
            <a:srgbClr val="DCB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9136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1E32"/>
                </a:solidFill>
              </a:rPr>
              <a:t>基础设施待升级</a:t>
            </a:r>
            <a:endParaRPr sz="1400" b="1">
              <a:solidFill>
                <a:srgbClr val="1E1E32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422452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6E82"/>
                </a:solidFill>
              </a:rPr>
              <a:t>热点餐厅排队2h+，服务质量投诉上升</a:t>
            </a:r>
            <a:endParaRPr sz="1100" b="0">
              <a:solidFill>
                <a:srgbClr val="6E6E82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20040" y="4636008"/>
            <a:ext cx="539496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4636008"/>
            <a:ext cx="109728" cy="685800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67258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1E32"/>
                </a:solidFill>
              </a:rPr>
              <a:t>淡季运营能力不足</a:t>
            </a:r>
            <a:endParaRPr sz="1400" b="1">
              <a:solidFill>
                <a:srgbClr val="1E1E32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498348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6E82"/>
                </a:solidFill>
              </a:rPr>
              <a:t>6-8月夏季无假期，为最大短板</a:t>
            </a:r>
            <a:endParaRPr sz="1100" b="0">
              <a:solidFill>
                <a:srgbClr val="6E6E82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20040" y="5394959"/>
            <a:ext cx="539496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5394959"/>
            <a:ext cx="109728" cy="685800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43153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1E32"/>
                </a:solidFill>
              </a:rPr>
              <a:t>数据监测体系缺失</a:t>
            </a:r>
            <a:endParaRPr sz="1400" b="1">
              <a:solidFill>
                <a:srgbClr val="1E1E32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48640" y="5742431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6E82"/>
                </a:solidFill>
              </a:rPr>
              <a:t>缺乏实时游客行为和空间数据支撑</a:t>
            </a:r>
            <a:endParaRPr sz="1100" b="0">
              <a:solidFill>
                <a:srgbClr val="6E6E82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400800" y="1051560"/>
            <a:ext cx="5440680" cy="457200"/>
          </a:xfrm>
          <a:prstGeom prst="rect">
            <a:avLst/>
          </a:prstGeom>
          <a:solidFill>
            <a:srgbClr val="32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1097280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✅  测绘部门的精准切入点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400800" y="1600200"/>
            <a:ext cx="54406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1600200"/>
            <a:ext cx="109728" cy="685800"/>
          </a:xfrm>
          <a:prstGeom prst="rect">
            <a:avLst/>
          </a:prstGeom>
          <a:solidFill>
            <a:srgbClr val="32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163677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1E32"/>
                </a:solidFill>
              </a:rPr>
              <a:t>基础设施数据底座</a:t>
            </a:r>
            <a:endParaRPr sz="1400" b="1">
              <a:solidFill>
                <a:srgbClr val="1E1E32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629400" y="194767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6E82"/>
                </a:solidFill>
              </a:rPr>
              <a:t>高精度地形图是所有扩建项目的刚性前提</a:t>
            </a:r>
            <a:endParaRPr sz="1100" b="0">
              <a:solidFill>
                <a:srgbClr val="6E6E82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400800" y="2359152"/>
            <a:ext cx="54406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2359152"/>
            <a:ext cx="109728" cy="685800"/>
          </a:xfrm>
          <a:prstGeom prst="rect">
            <a:avLst/>
          </a:prstGeom>
          <a:solidFill>
            <a:srgbClr val="32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9400" y="23957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1E32"/>
                </a:solidFill>
              </a:rPr>
              <a:t>三维数字化改造</a:t>
            </a:r>
            <a:endParaRPr sz="1400" b="1">
              <a:solidFill>
                <a:srgbClr val="1E1E32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629400" y="2706624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6E82"/>
                </a:solidFill>
              </a:rPr>
              <a:t>AR/VR体验、智能导览的基础空间数据</a:t>
            </a:r>
            <a:endParaRPr sz="1100" b="0">
              <a:solidFill>
                <a:srgbClr val="6E6E82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400800" y="3118104"/>
            <a:ext cx="54406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0" y="3118104"/>
            <a:ext cx="109728" cy="685800"/>
          </a:xfrm>
          <a:prstGeom prst="rect">
            <a:avLst/>
          </a:prstGeom>
          <a:solidFill>
            <a:srgbClr val="32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29400" y="31546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1E32"/>
                </a:solidFill>
              </a:rPr>
              <a:t>交通空间分析</a:t>
            </a:r>
            <a:endParaRPr sz="1400" b="1">
              <a:solidFill>
                <a:srgbClr val="1E1E32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629400" y="3465576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6E82"/>
                </a:solidFill>
              </a:rPr>
              <a:t>停车位遥感监测、道路精细测量支撑疏导方案</a:t>
            </a:r>
            <a:endParaRPr sz="1100" b="0">
              <a:solidFill>
                <a:srgbClr val="6E6E82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400800" y="3877056"/>
            <a:ext cx="54406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00800" y="3877056"/>
            <a:ext cx="109728" cy="685800"/>
          </a:xfrm>
          <a:prstGeom prst="rect">
            <a:avLst/>
          </a:prstGeom>
          <a:solidFill>
            <a:srgbClr val="32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29400" y="39136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1E32"/>
                </a:solidFill>
              </a:rPr>
              <a:t>工程测量服务</a:t>
            </a:r>
            <a:endParaRPr sz="1400" b="1">
              <a:solidFill>
                <a:srgbClr val="1E1E32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629400" y="422452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6E82"/>
                </a:solidFill>
              </a:rPr>
              <a:t>新建营地/民宿/酒店的施工测量需求爆发</a:t>
            </a:r>
            <a:endParaRPr sz="1100" b="0">
              <a:solidFill>
                <a:srgbClr val="6E6E82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400800" y="4636008"/>
            <a:ext cx="54406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00800" y="4636008"/>
            <a:ext cx="109728" cy="685800"/>
          </a:xfrm>
          <a:prstGeom prst="rect">
            <a:avLst/>
          </a:prstGeom>
          <a:solidFill>
            <a:srgbClr val="32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29400" y="467258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1E32"/>
                </a:solidFill>
              </a:rPr>
              <a:t>全域数据一张图</a:t>
            </a:r>
            <a:endParaRPr sz="1400" b="1">
              <a:solidFill>
                <a:srgbClr val="1E1E32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629400" y="498348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6E82"/>
                </a:solidFill>
              </a:rPr>
              <a:t>文旅局最需要的精准空间数据管理平台</a:t>
            </a:r>
            <a:endParaRPr sz="1100" b="0">
              <a:solidFill>
                <a:srgbClr val="6E6E82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400800" y="5394959"/>
            <a:ext cx="54406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400800" y="5394959"/>
            <a:ext cx="109728" cy="685800"/>
          </a:xfrm>
          <a:prstGeom prst="rect">
            <a:avLst/>
          </a:prstGeom>
          <a:solidFill>
            <a:srgbClr val="32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29400" y="543153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1E32"/>
                </a:solidFill>
              </a:rPr>
              <a:t>文保变形监测</a:t>
            </a:r>
            <a:endParaRPr sz="1400" b="1">
              <a:solidFill>
                <a:srgbClr val="1E1E32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629400" y="5742431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6E82"/>
                </a:solidFill>
              </a:rPr>
              <a:t>古城墙/古建筑安全监测的持续服务需求</a:t>
            </a:r>
            <a:endParaRPr sz="1100" b="0">
              <a:solidFill>
                <a:srgbClr val="6E6E8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91440"/>
            <a:ext cx="1463040" cy="731520"/>
          </a:xfrm>
          <a:prstGeom prst="rect">
            <a:avLst/>
          </a:prstGeom>
          <a:solidFill>
            <a:srgbClr val="32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01</a:t>
            </a:r>
            <a:endParaRPr sz="3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11680" y="18288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业务一：文旅资源空间数据库建设</a:t>
            </a:r>
            <a:endParaRPr sz="2600" b="1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2651760" cy="1325880"/>
          </a:xfrm>
          <a:prstGeom prst="rect">
            <a:avLst/>
          </a:prstGeom>
          <a:solidFill>
            <a:srgbClr val="32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1170432"/>
            <a:ext cx="250545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景区景点
30+个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0040" y="2487168"/>
            <a:ext cx="2651760" cy="621792"/>
          </a:xfrm>
          <a:prstGeom prst="rect">
            <a:avLst/>
          </a:prstGeom>
          <a:solidFill>
            <a:srgbClr val="EB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2560320"/>
            <a:ext cx="25054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C3C50"/>
                </a:solidFill>
              </a:rPr>
              <a:t>RTK外业调绘
+无人机航摄</a:t>
            </a:r>
            <a:endParaRPr sz="1200" b="0">
              <a:solidFill>
                <a:srgbClr val="3C3C5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46120" y="1097280"/>
            <a:ext cx="2651760" cy="1325880"/>
          </a:xfrm>
          <a:prstGeom prst="rect">
            <a:avLst/>
          </a:prstGeom>
          <a:solidFill>
            <a:srgbClr val="C8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9272" y="1170432"/>
            <a:ext cx="250545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文保单位
200+处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246120" y="2487168"/>
            <a:ext cx="2651760" cy="621792"/>
          </a:xfrm>
          <a:prstGeom prst="rect">
            <a:avLst/>
          </a:prstGeom>
          <a:solidFill>
            <a:srgbClr val="EB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9272" y="2560320"/>
            <a:ext cx="25054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C3C50"/>
                </a:solidFill>
              </a:rPr>
              <a:t>RTK精确定位
+三维扫描存档</a:t>
            </a:r>
            <a:endParaRPr sz="1200" b="0">
              <a:solidFill>
                <a:srgbClr val="3C3C5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172200" y="1097280"/>
            <a:ext cx="2651760" cy="1325880"/>
          </a:xfrm>
          <a:prstGeom prst="rect">
            <a:avLst/>
          </a:prstGeom>
          <a:solidFill>
            <a:srgbClr val="3C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170432"/>
            <a:ext cx="250545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配套设施
POI采集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72200" y="2487168"/>
            <a:ext cx="2651760" cy="621792"/>
          </a:xfrm>
          <a:prstGeom prst="rect">
            <a:avLst/>
          </a:prstGeom>
          <a:solidFill>
            <a:srgbClr val="EB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5352" y="2560320"/>
            <a:ext cx="25054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C3C50"/>
                </a:solidFill>
              </a:rPr>
              <a:t>外业核查
+线上数据清洗</a:t>
            </a:r>
            <a:endParaRPr sz="1200" b="0">
              <a:solidFill>
                <a:srgbClr val="3C3C5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098280" y="1097280"/>
            <a:ext cx="2651760" cy="1325880"/>
          </a:xfrm>
          <a:prstGeom prst="rect">
            <a:avLst/>
          </a:prstGeom>
          <a:solidFill>
            <a:srgbClr val="A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71432" y="1170432"/>
            <a:ext cx="250545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交通设施
道路/停车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098280" y="2487168"/>
            <a:ext cx="2651760" cy="621792"/>
          </a:xfrm>
          <a:prstGeom prst="rect">
            <a:avLst/>
          </a:prstGeom>
          <a:solidFill>
            <a:srgbClr val="EB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71432" y="2560320"/>
            <a:ext cx="25054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C3C50"/>
                </a:solidFill>
              </a:rPr>
              <a:t>车载移动测量
+遥感识别</a:t>
            </a:r>
            <a:endParaRPr sz="1200" b="0">
              <a:solidFill>
                <a:srgbClr val="3C3C5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004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E3C"/>
                </a:solidFill>
              </a:rPr>
              <a:t>数据库建设内容</a:t>
            </a:r>
            <a:endParaRPr sz="1500" b="1">
              <a:solidFill>
                <a:srgbClr val="0A1E3C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20040" y="3657600"/>
            <a:ext cx="5029200" cy="36576"/>
          </a:xfrm>
          <a:prstGeom prst="rect">
            <a:avLst/>
          </a:prstGeom>
          <a:solidFill>
            <a:srgbClr val="32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749039"/>
            <a:ext cx="50292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37947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2846"/>
                </a:solidFill>
              </a:rPr>
              <a:t>  全市文旅资源POI空间定位（经纬度+高程）</a:t>
            </a:r>
            <a:endParaRPr sz="1200" b="0">
              <a:solidFill>
                <a:srgbClr val="282846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20040" y="4206240"/>
            <a:ext cx="5029200" cy="402336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2519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2846"/>
                </a:solidFill>
              </a:rPr>
              <a:t>  0.2m分辨率DOM正射影像图（空间底图）</a:t>
            </a:r>
            <a:endParaRPr sz="1200" b="0">
              <a:solidFill>
                <a:srgbClr val="282846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20040" y="4663440"/>
            <a:ext cx="50292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4709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2846"/>
                </a:solidFill>
              </a:rPr>
              <a:t>  重点景区三维模型数据库</a:t>
            </a:r>
            <a:endParaRPr sz="1200" b="0">
              <a:solidFill>
                <a:srgbClr val="282846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20040" y="5120640"/>
            <a:ext cx="5029200" cy="402336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51663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2846"/>
                </a:solidFill>
              </a:rPr>
              <a:t>  交通可达性分析数据（路网+停车POI）</a:t>
            </a:r>
            <a:endParaRPr sz="1200" b="0">
              <a:solidFill>
                <a:srgbClr val="282846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20040" y="5577840"/>
            <a:ext cx="50292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56235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2846"/>
                </a:solidFill>
              </a:rPr>
              <a:t>  年度变化监测数据（对比更新报告）</a:t>
            </a:r>
            <a:endParaRPr sz="1200" b="0">
              <a:solidFill>
                <a:srgbClr val="282846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760720" y="3291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E3C"/>
                </a:solidFill>
              </a:rPr>
              <a:t>交付成果</a:t>
            </a:r>
            <a:endParaRPr sz="1500" b="1">
              <a:solidFill>
                <a:srgbClr val="0A1E3C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760720" y="3657600"/>
            <a:ext cx="6126480" cy="36576"/>
          </a:xfrm>
          <a:prstGeom prst="rect">
            <a:avLst/>
          </a:prstGeom>
          <a:solidFill>
            <a:srgbClr val="32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60720" y="3749039"/>
            <a:ext cx="61264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52160" y="37947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2846"/>
                </a:solidFill>
              </a:rPr>
              <a:t>  GIS空间数据库（可对接文旅局现有平台）</a:t>
            </a:r>
            <a:endParaRPr sz="1200" b="0">
              <a:solidFill>
                <a:srgbClr val="282846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760720" y="4206240"/>
            <a:ext cx="6126480" cy="402336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2160" y="42519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2846"/>
                </a:solidFill>
              </a:rPr>
              <a:t>  文旅资源"一张图"Web平台</a:t>
            </a:r>
            <a:endParaRPr sz="1200" b="0">
              <a:solidFill>
                <a:srgbClr val="282846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760720" y="4663440"/>
            <a:ext cx="61264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52160" y="47091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2846"/>
                </a:solidFill>
              </a:rPr>
              <a:t>  年度数据更新包（变化监测报告）</a:t>
            </a:r>
            <a:endParaRPr sz="1200" b="0">
              <a:solidFill>
                <a:srgbClr val="282846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760720" y="5120640"/>
            <a:ext cx="6126480" cy="402336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52160" y="51663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2846"/>
                </a:solidFill>
              </a:rPr>
              <a:t>  重点景区大比例尺地形图（DWG/SHP）</a:t>
            </a:r>
            <a:endParaRPr sz="1200" b="0">
              <a:solidFill>
                <a:srgbClr val="282846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5760720" y="5577840"/>
            <a:ext cx="61264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52160" y="56235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2846"/>
                </a:solidFill>
              </a:rPr>
              <a:t>  标准API接口（支撑其他系统调用）</a:t>
            </a:r>
            <a:endParaRPr sz="1200" b="0">
              <a:solidFill>
                <a:srgbClr val="282846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20040" y="6126480"/>
            <a:ext cx="11521440" cy="530352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6199632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A1E64"/>
                </a:solidFill>
              </a:rPr>
              <a:t>核心价值：解决文旅局"有数据、无空间底座"的核心痛点，为精准营销和精细管理提供数据支撑</a:t>
            </a:r>
            <a:endParaRPr sz="1300" b="0">
              <a:solidFill>
                <a:srgbClr val="0A1E64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91440"/>
            <a:ext cx="1463040" cy="731520"/>
          </a:xfrm>
          <a:prstGeom prst="rect">
            <a:avLst/>
          </a:prstGeom>
          <a:solidFill>
            <a:srgbClr val="C8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02</a:t>
            </a:r>
            <a:endParaRPr sz="3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11680" y="18288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业务二：重点景区实景三维与数字孪生</a:t>
            </a:r>
            <a:endParaRPr sz="26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E3C"/>
                </a:solidFill>
              </a:rPr>
              <a:t>技术路线</a:t>
            </a:r>
            <a:endParaRPr sz="1500" b="1">
              <a:solidFill>
                <a:srgbClr val="0A1E3C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2011680" cy="868680"/>
          </a:xfrm>
          <a:prstGeom prst="rect">
            <a:avLst/>
          </a:prstGeom>
          <a:solidFill>
            <a:srgbClr val="32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527048"/>
            <a:ext cx="1920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地面LiDAR
精细扫描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86000" y="1691640"/>
            <a:ext cx="329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282C8"/>
                </a:solidFill>
              </a:rPr>
              <a:t>&gt;</a:t>
            </a:r>
            <a:endParaRPr sz="1800" b="1">
              <a:solidFill>
                <a:srgbClr val="3282C8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615184" y="1463040"/>
            <a:ext cx="2011680" cy="868680"/>
          </a:xfrm>
          <a:prstGeom prst="rect">
            <a:avLst/>
          </a:prstGeom>
          <a:solidFill>
            <a:srgbClr val="32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60903" y="1527048"/>
            <a:ext cx="1920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无人机
倾斜摄影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26864" y="1691640"/>
            <a:ext cx="329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282C8"/>
                </a:solidFill>
              </a:rPr>
              <a:t>&gt;</a:t>
            </a:r>
            <a:endParaRPr sz="1800" b="1">
              <a:solidFill>
                <a:srgbClr val="3282C8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956048" y="1463040"/>
            <a:ext cx="2011680" cy="868680"/>
          </a:xfrm>
          <a:prstGeom prst="rect">
            <a:avLst/>
          </a:prstGeom>
          <a:solidFill>
            <a:srgbClr val="32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1768" y="1527048"/>
            <a:ext cx="1920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多源数据
融合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67728" y="1691640"/>
            <a:ext cx="329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282C8"/>
                </a:solidFill>
              </a:rPr>
              <a:t>&gt;</a:t>
            </a:r>
            <a:endParaRPr sz="1800" b="1">
              <a:solidFill>
                <a:srgbClr val="3282C8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296912" y="1463040"/>
            <a:ext cx="2011680" cy="868680"/>
          </a:xfrm>
          <a:prstGeom prst="rect">
            <a:avLst/>
          </a:prstGeom>
          <a:solidFill>
            <a:srgbClr val="32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42631" y="1527048"/>
            <a:ext cx="1920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三维重建
建模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308592" y="1691640"/>
            <a:ext cx="329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282C8"/>
                </a:solidFill>
              </a:rPr>
              <a:t>&gt;</a:t>
            </a:r>
            <a:endParaRPr sz="1800" b="1">
              <a:solidFill>
                <a:srgbClr val="3282C8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637776" y="1463040"/>
            <a:ext cx="2011680" cy="868680"/>
          </a:xfrm>
          <a:prstGeom prst="rect">
            <a:avLst/>
          </a:prstGeom>
          <a:solidFill>
            <a:srgbClr val="32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83496" y="1527048"/>
            <a:ext cx="1920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数字孪生
平台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20040" y="2514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E3C"/>
                </a:solidFill>
              </a:rPr>
              <a:t>优先服务目标景区</a:t>
            </a:r>
            <a:endParaRPr sz="1500" b="1">
              <a:solidFill>
                <a:srgbClr val="0A1E3C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20040" y="2852928"/>
            <a:ext cx="11521440" cy="36576"/>
          </a:xfrm>
          <a:prstGeom prst="rect">
            <a:avLst/>
          </a:prstGeom>
          <a:solidFill>
            <a:srgbClr val="C8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2999232"/>
            <a:ext cx="55778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2999232"/>
            <a:ext cx="91440" cy="987552"/>
          </a:xfrm>
          <a:prstGeom prst="rect">
            <a:avLst/>
          </a:prstGeom>
          <a:solidFill>
            <a:srgbClr val="32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7" y="305409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1E32"/>
                </a:solidFill>
              </a:rPr>
              <a:t>邯郸道历史文化街区</a:t>
            </a:r>
            <a:endParaRPr sz="1400" b="1">
              <a:solidFill>
                <a:srgbClr val="1E1E32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21207" y="34107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82C8"/>
                </a:solidFill>
              </a:rPr>
              <a:t>累计2800万客流</a:t>
            </a:r>
            <a:endParaRPr sz="1200" b="0">
              <a:solidFill>
                <a:srgbClr val="3282C8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21207" y="369417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482"/>
                </a:solidFill>
              </a:rPr>
              <a:t>街区精细三维 + 停车分析</a:t>
            </a:r>
            <a:endParaRPr sz="1100" b="0">
              <a:solidFill>
                <a:srgbClr val="646482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172200" y="2999232"/>
            <a:ext cx="55778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2999232"/>
            <a:ext cx="91440" cy="987552"/>
          </a:xfrm>
          <a:prstGeom prst="rect">
            <a:avLst/>
          </a:prstGeom>
          <a:solidFill>
            <a:srgbClr val="C8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305409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1E32"/>
                </a:solidFill>
              </a:rPr>
              <a:t>广府古城</a:t>
            </a:r>
            <a:endParaRPr sz="1400" b="1">
              <a:solidFill>
                <a:srgbClr val="1E1E32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373368" y="34107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5032"/>
                </a:solidFill>
              </a:rPr>
              <a:t>39.1万客流/同比70%↑</a:t>
            </a:r>
            <a:endParaRPr sz="1200" b="0">
              <a:solidFill>
                <a:srgbClr val="C85032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373368" y="369417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482"/>
                </a:solidFill>
              </a:rPr>
              <a:t>城墙变形监测 + 智慧导览</a:t>
            </a:r>
            <a:endParaRPr sz="1100" b="0">
              <a:solidFill>
                <a:srgbClr val="646482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20040" y="4096511"/>
            <a:ext cx="55778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4096511"/>
            <a:ext cx="91440" cy="987552"/>
          </a:xfrm>
          <a:prstGeom prst="rect">
            <a:avLst/>
          </a:prstGeom>
          <a:solidFill>
            <a:srgbClr val="3C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1207" y="4151375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1E32"/>
                </a:solidFill>
              </a:rPr>
              <a:t>一二九师纪念馆</a:t>
            </a:r>
            <a:endParaRPr sz="1400" b="1">
              <a:solidFill>
                <a:srgbClr val="1E1E32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21207" y="45079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CA064"/>
                </a:solidFill>
              </a:rPr>
              <a:t>日均1万+客流</a:t>
            </a:r>
            <a:endParaRPr sz="1200" b="0">
              <a:solidFill>
                <a:srgbClr val="3CA064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21207" y="4791455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482"/>
                </a:solidFill>
              </a:rPr>
              <a:t>红色遗址三维存档</a:t>
            </a:r>
            <a:endParaRPr sz="1100" b="0">
              <a:solidFill>
                <a:srgbClr val="646482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172200" y="4096511"/>
            <a:ext cx="55778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72200" y="4096511"/>
            <a:ext cx="91440" cy="987552"/>
          </a:xfrm>
          <a:prstGeom prst="rect">
            <a:avLst/>
          </a:prstGeom>
          <a:solidFill>
            <a:srgbClr val="A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73368" y="4151375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1E32"/>
                </a:solidFill>
              </a:rPr>
              <a:t>沁河郊野公园</a:t>
            </a:r>
            <a:endParaRPr sz="1400" b="1">
              <a:solidFill>
                <a:srgbClr val="1E1E32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373368" y="45079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64B4"/>
                </a:solidFill>
              </a:rPr>
              <a:t>露营季主会场</a:t>
            </a:r>
            <a:endParaRPr sz="1200" b="0">
              <a:solidFill>
                <a:srgbClr val="A064B4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373368" y="4791455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482"/>
                </a:solidFill>
              </a:rPr>
              <a:t>地形测量 + 营地选址</a:t>
            </a:r>
            <a:endParaRPr sz="1100" b="0">
              <a:solidFill>
                <a:srgbClr val="646482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20040" y="52852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E3C"/>
                </a:solidFill>
              </a:rPr>
              <a:t>三维数据应用场景</a:t>
            </a:r>
            <a:endParaRPr sz="1500" b="1">
              <a:solidFill>
                <a:srgbClr val="0A1E3C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320040" y="5669280"/>
            <a:ext cx="2697480" cy="640080"/>
          </a:xfrm>
          <a:prstGeom prst="rect">
            <a:avLst/>
          </a:prstGeom>
          <a:solidFill>
            <a:srgbClr val="32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3192" y="5742432"/>
            <a:ext cx="25511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AR/VR沉浸式体验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246120" y="5669280"/>
            <a:ext cx="2697480" cy="640080"/>
          </a:xfrm>
          <a:prstGeom prst="rect">
            <a:avLst/>
          </a:prstGeom>
          <a:solidFill>
            <a:srgbClr val="3C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19272" y="5742432"/>
            <a:ext cx="25511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智能导览与客流疏导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172200" y="5669280"/>
            <a:ext cx="2697480" cy="640080"/>
          </a:xfrm>
          <a:prstGeom prst="rect">
            <a:avLst/>
          </a:prstGeom>
          <a:solidFill>
            <a:srgbClr val="C8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45352" y="5742432"/>
            <a:ext cx="25511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文保变形监测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9098280" y="5669280"/>
            <a:ext cx="2697480" cy="640080"/>
          </a:xfrm>
          <a:prstGeom prst="rect">
            <a:avLst/>
          </a:prstGeom>
          <a:solidFill>
            <a:srgbClr val="A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71432" y="5742432"/>
            <a:ext cx="25511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规划设计基础</a:t>
            </a:r>
            <a:endParaRPr sz="13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91440"/>
            <a:ext cx="1463040" cy="731520"/>
          </a:xfrm>
          <a:prstGeom prst="rect">
            <a:avLst/>
          </a:prstGeom>
          <a:solidFill>
            <a:srgbClr val="3C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03</a:t>
            </a:r>
            <a:endParaRPr sz="3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11680" y="18288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业务三：文旅基础设施工程测量</a:t>
            </a:r>
            <a:endParaRPr sz="26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A1E3C"/>
                </a:solidFill>
              </a:rPr>
              <a:t>报告明确提出的基础设施需求</a:t>
            </a:r>
            <a:endParaRPr sz="1700" b="1">
              <a:solidFill>
                <a:srgbClr val="0A1E3C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11521440" cy="36576"/>
          </a:xfrm>
          <a:prstGeom prst="rect">
            <a:avLst/>
          </a:prstGeom>
          <a:solidFill>
            <a:srgbClr val="3C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11521440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554480"/>
            <a:ext cx="91440" cy="768096"/>
          </a:xfrm>
          <a:prstGeom prst="rect">
            <a:avLst/>
          </a:prstGeom>
          <a:solidFill>
            <a:srgbClr val="3C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276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1E3C"/>
                </a:solidFill>
              </a:rPr>
              <a:t>🏨  住宿扩容</a:t>
            </a:r>
            <a:endParaRPr sz="1400" b="1">
              <a:solidFill>
                <a:srgbClr val="0A1E3C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00400" y="162763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5032"/>
                </a:solidFill>
              </a:rPr>
              <a:t>"年增2000+房间"</a:t>
            </a:r>
            <a:endParaRPr sz="1200" b="0">
              <a:solidFill>
                <a:srgbClr val="C8503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06640" y="1627632"/>
            <a:ext cx="4389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250"/>
                </a:solidFill>
              </a:rPr>
              <a:t>→  规划定位测量、竣工测绘、不动产测绘</a:t>
            </a:r>
            <a:endParaRPr sz="1200" b="0">
              <a:solidFill>
                <a:srgbClr val="32325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0040" y="2395728"/>
            <a:ext cx="11521440" cy="768096"/>
          </a:xfrm>
          <a:prstGeom prst="rect">
            <a:avLst/>
          </a:prstGeom>
          <a:solidFill>
            <a:srgbClr val="F8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95728"/>
            <a:ext cx="91440" cy="768096"/>
          </a:xfrm>
          <a:prstGeom prst="rect">
            <a:avLst/>
          </a:prstGeom>
          <a:solidFill>
            <a:srgbClr val="3C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4688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1E3C"/>
                </a:solidFill>
              </a:rPr>
              <a:t>🏕️  露营地新建/扩建</a:t>
            </a:r>
            <a:endParaRPr sz="1400" b="1">
              <a:solidFill>
                <a:srgbClr val="0A1E3C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00400" y="246888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5032"/>
                </a:solidFill>
              </a:rPr>
              <a:t>"十大露营基地全面启动"</a:t>
            </a:r>
            <a:endParaRPr sz="1200" b="0">
              <a:solidFill>
                <a:srgbClr val="C85032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406640" y="2468880"/>
            <a:ext cx="4389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250"/>
                </a:solidFill>
              </a:rPr>
              <a:t>→  选址勘察、地形测量、施工控制网</a:t>
            </a:r>
            <a:endParaRPr sz="1200" b="0">
              <a:solidFill>
                <a:srgbClr val="32325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20040" y="3236976"/>
            <a:ext cx="11521440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236976"/>
            <a:ext cx="91440" cy="768096"/>
          </a:xfrm>
          <a:prstGeom prst="rect">
            <a:avLst/>
          </a:prstGeom>
          <a:solidFill>
            <a:srgbClr val="3C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31012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1E3C"/>
                </a:solidFill>
              </a:rPr>
              <a:t>🛤️  景区直通车道路</a:t>
            </a:r>
            <a:endParaRPr sz="1400" b="1">
              <a:solidFill>
                <a:srgbClr val="0A1E3C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200400" y="33101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5032"/>
                </a:solidFill>
              </a:rPr>
              <a:t>"需开通景区直通车"</a:t>
            </a:r>
            <a:endParaRPr sz="1200" b="0">
              <a:solidFill>
                <a:srgbClr val="C85032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06640" y="3310128"/>
            <a:ext cx="4389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250"/>
                </a:solidFill>
              </a:rPr>
              <a:t>→  道路断面测量、沿线地籍测量</a:t>
            </a:r>
            <a:endParaRPr sz="1200" b="0">
              <a:solidFill>
                <a:srgbClr val="32325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20040" y="4078224"/>
            <a:ext cx="11521440" cy="768096"/>
          </a:xfrm>
          <a:prstGeom prst="rect">
            <a:avLst/>
          </a:prstGeom>
          <a:solidFill>
            <a:srgbClr val="F8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078224"/>
            <a:ext cx="91440" cy="768096"/>
          </a:xfrm>
          <a:prstGeom prst="rect">
            <a:avLst/>
          </a:prstGeom>
          <a:solidFill>
            <a:srgbClr val="3C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15137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1E3C"/>
                </a:solidFill>
              </a:rPr>
              <a:t>🏗️  新建文旅项目</a:t>
            </a:r>
            <a:endParaRPr sz="1400" b="1">
              <a:solidFill>
                <a:srgbClr val="0A1E3C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200400" y="415137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5032"/>
                </a:solidFill>
              </a:rPr>
              <a:t>大名运河文旅带等</a:t>
            </a:r>
            <a:endParaRPr sz="1200" b="0">
              <a:solidFill>
                <a:srgbClr val="C85032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406640" y="4151376"/>
            <a:ext cx="4389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250"/>
                </a:solidFill>
              </a:rPr>
              <a:t>→  施工测量、变形监测、竣工验收</a:t>
            </a:r>
            <a:endParaRPr sz="1200" b="0">
              <a:solidFill>
                <a:srgbClr val="323250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20040" y="4919472"/>
            <a:ext cx="11521440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919472"/>
            <a:ext cx="91440" cy="768096"/>
          </a:xfrm>
          <a:prstGeom prst="rect">
            <a:avLst/>
          </a:prstGeom>
          <a:solidFill>
            <a:srgbClr val="3C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9926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1E3C"/>
                </a:solidFill>
              </a:rPr>
              <a:t>🅿️  停车场基础设施</a:t>
            </a:r>
            <a:endParaRPr sz="1400" b="1">
              <a:solidFill>
                <a:srgbClr val="0A1E3C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200400" y="499262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5032"/>
                </a:solidFill>
              </a:rPr>
              <a:t>"停车难是核心痛点"</a:t>
            </a:r>
            <a:endParaRPr sz="1200" b="0">
              <a:solidFill>
                <a:srgbClr val="C85032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406640" y="4992624"/>
            <a:ext cx="4389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250"/>
                </a:solidFill>
              </a:rPr>
              <a:t>→  停车场地形测量、空间布局测绘</a:t>
            </a:r>
            <a:endParaRPr sz="1200" b="0">
              <a:solidFill>
                <a:srgbClr val="323250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20040" y="5943600"/>
            <a:ext cx="11521440" cy="713232"/>
          </a:xfrm>
          <a:prstGeom prst="rect">
            <a:avLst/>
          </a:prstGeom>
          <a:solidFill>
            <a:srgbClr val="E6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01675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5032"/>
                </a:solidFill>
              </a:rPr>
              <a:t>💡  我院优势：甲级测绘资质 + 丰富工程测量经验 + 快速响应能力，可为文旅项目提供全周期测量服务</a:t>
            </a:r>
            <a:endParaRPr sz="1400" b="0">
              <a:solidFill>
                <a:srgbClr val="14503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91440"/>
            <a:ext cx="1463040" cy="731520"/>
          </a:xfrm>
          <a:prstGeom prst="rect">
            <a:avLst/>
          </a:prstGeom>
          <a:solidFill>
            <a:srgbClr val="A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04</a:t>
            </a:r>
            <a:endParaRPr sz="3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11680" y="18288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业务四：低空遥感巡检监测服务</a:t>
            </a:r>
            <a:endParaRPr sz="26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1E3C"/>
                </a:solidFill>
              </a:rPr>
              <a:t>服务内容</a:t>
            </a:r>
            <a:endParaRPr sz="1600" b="1">
              <a:solidFill>
                <a:srgbClr val="0A1E3C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040" y="1481328"/>
            <a:ext cx="53949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81328"/>
            <a:ext cx="91440" cy="731520"/>
          </a:xfrm>
          <a:prstGeom prst="rect">
            <a:avLst/>
          </a:prstGeom>
          <a:solidFill>
            <a:srgbClr val="A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536192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1E32"/>
                </a:solidFill>
              </a:rPr>
              <a:t>📡 违建巡检监测</a:t>
            </a:r>
            <a:endParaRPr sz="1400" b="1">
              <a:solidFill>
                <a:srgbClr val="1E1E32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0352" y="1865376"/>
            <a:ext cx="5074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0506E"/>
                </a:solidFill>
              </a:rPr>
              <a:t>利用无人机+AI变化检测，自动识别景区及周边违建行为</a:t>
            </a:r>
            <a:endParaRPr sz="1100" b="0">
              <a:solidFill>
                <a:srgbClr val="50506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0040" y="2286000"/>
            <a:ext cx="53949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286000"/>
            <a:ext cx="91440" cy="731520"/>
          </a:xfrm>
          <a:prstGeom prst="rect">
            <a:avLst/>
          </a:prstGeom>
          <a:solidFill>
            <a:srgbClr val="C8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340864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1E32"/>
                </a:solidFill>
              </a:rPr>
              <a:t>🏛️ 文保区巡检</a:t>
            </a:r>
            <a:endParaRPr sz="1400" b="1">
              <a:solidFill>
                <a:srgbClr val="1E1E3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0352" y="2670048"/>
            <a:ext cx="5074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0506E"/>
                </a:solidFill>
              </a:rPr>
              <a:t>广府古城、一二九师等文保单位定期无人机巡查存档</a:t>
            </a:r>
            <a:endParaRPr sz="1100" b="0">
              <a:solidFill>
                <a:srgbClr val="50506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20040" y="3090672"/>
            <a:ext cx="53949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090672"/>
            <a:ext cx="91440" cy="731520"/>
          </a:xfrm>
          <a:prstGeom prst="rect">
            <a:avLst/>
          </a:prstGeom>
          <a:solidFill>
            <a:srgbClr val="32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3145536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1E32"/>
                </a:solidFill>
              </a:rPr>
              <a:t>🚗 交通流量航拍</a:t>
            </a:r>
            <a:endParaRPr sz="1400" b="1">
              <a:solidFill>
                <a:srgbClr val="1E1E32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30352" y="3474720"/>
            <a:ext cx="5074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0506E"/>
                </a:solidFill>
              </a:rPr>
              <a:t>五一/国庆等节假日重点路段航拍，获取交通流空间数据</a:t>
            </a:r>
            <a:endParaRPr sz="1100" b="0">
              <a:solidFill>
                <a:srgbClr val="50506E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20040" y="3895344"/>
            <a:ext cx="53949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895344"/>
            <a:ext cx="91440" cy="731520"/>
          </a:xfrm>
          <a:prstGeom prst="rect">
            <a:avLst/>
          </a:prstGeom>
          <a:solidFill>
            <a:srgbClr val="3C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3950207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1E32"/>
                </a:solidFill>
              </a:rPr>
              <a:t>🌲 生态保护区监测</a:t>
            </a:r>
            <a:endParaRPr sz="1400" b="1">
              <a:solidFill>
                <a:srgbClr val="1E1E32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30352" y="4279392"/>
            <a:ext cx="5074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0506E"/>
                </a:solidFill>
              </a:rPr>
              <a:t>沁河等生态敏感区航拍监测，支持生态红线管控</a:t>
            </a:r>
            <a:endParaRPr sz="1100" b="0">
              <a:solidFill>
                <a:srgbClr val="50506E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20040" y="4700016"/>
            <a:ext cx="53949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700016"/>
            <a:ext cx="91440" cy="731520"/>
          </a:xfrm>
          <a:prstGeom prst="rect">
            <a:avLst/>
          </a:prstGeom>
          <a:solidFill>
            <a:srgbClr val="DCB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754880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1E32"/>
                </a:solidFill>
              </a:rPr>
              <a:t>📸 重大活动保障</a:t>
            </a:r>
            <a:endParaRPr sz="1400" b="1">
              <a:solidFill>
                <a:srgbClr val="1E1E32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30352" y="5084064"/>
            <a:ext cx="5074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0506E"/>
                </a:solidFill>
              </a:rPr>
              <a:t>露营季、啤酒节等大型活动现场航拍存档</a:t>
            </a:r>
            <a:endParaRPr sz="1100" b="0">
              <a:solidFill>
                <a:srgbClr val="50506E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35040" y="1051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1E3C"/>
                </a:solidFill>
              </a:rPr>
              <a:t>技术优势</a:t>
            </a:r>
            <a:endParaRPr sz="1600" b="1">
              <a:solidFill>
                <a:srgbClr val="0A1E3C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035040" y="1417320"/>
            <a:ext cx="5806440" cy="36576"/>
          </a:xfrm>
          <a:prstGeom prst="rect">
            <a:avLst/>
          </a:prstGeom>
          <a:solidFill>
            <a:srgbClr val="A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536192"/>
            <a:ext cx="5806440" cy="54864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44768" y="1627632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2846"/>
                </a:solidFill>
              </a:rPr>
              <a:t>✈️  DJI经纬M300 RTK无人机（高精度定位）</a:t>
            </a:r>
            <a:endParaRPr sz="1200" b="0">
              <a:solidFill>
                <a:srgbClr val="282846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035040" y="2157984"/>
            <a:ext cx="58064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44768" y="2249424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2846"/>
                </a:solidFill>
              </a:rPr>
              <a:t>📷  可见光+热成像双挂载（昼夜均可作业）</a:t>
            </a:r>
            <a:endParaRPr sz="1200" b="0">
              <a:solidFill>
                <a:srgbClr val="282846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035040" y="2779776"/>
            <a:ext cx="5806440" cy="54864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44768" y="2871216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2846"/>
                </a:solidFill>
              </a:rPr>
              <a:t>🧠  AI变化检测算法（自动识别违建斑点）</a:t>
            </a:r>
            <a:endParaRPr sz="1200" b="0">
              <a:solidFill>
                <a:srgbClr val="282846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035040" y="3401568"/>
            <a:ext cx="58064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44768" y="349300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2846"/>
                </a:solidFill>
              </a:rPr>
              <a:t>📊  航测数据快速处理（48小时出成果）</a:t>
            </a:r>
            <a:endParaRPr sz="1200" b="0">
              <a:solidFill>
                <a:srgbClr val="282846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035040" y="4023360"/>
            <a:ext cx="5806440" cy="54864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44768" y="411480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2846"/>
                </a:solidFill>
              </a:rPr>
              <a:t>🗺️  正射影像+三维模型双交付</a:t>
            </a:r>
            <a:endParaRPr sz="1200" b="0">
              <a:solidFill>
                <a:srgbClr val="282846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035040" y="4645152"/>
            <a:ext cx="58064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44768" y="4736592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2846"/>
                </a:solidFill>
              </a:rPr>
              <a:t>📋  标准化巡检报告（支持执法取证）</a:t>
            </a:r>
            <a:endParaRPr sz="1200" b="0">
              <a:solidFill>
                <a:srgbClr val="282846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035040" y="5266944"/>
            <a:ext cx="5806440" cy="54864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44768" y="5358383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2846"/>
                </a:solidFill>
              </a:rPr>
              <a:t>⏱️  包年定期巡检服务（季度/月度可选）</a:t>
            </a:r>
            <a:endParaRPr sz="1200" b="0">
              <a:solidFill>
                <a:srgbClr val="282846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035040" y="5888736"/>
            <a:ext cx="58064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44768" y="5980176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82846"/>
                </a:solidFill>
              </a:rPr>
              <a:t>🔗  可对接文旅局/自然资源局现有平台</a:t>
            </a:r>
            <a:endParaRPr sz="1200" b="0">
              <a:solidFill>
                <a:srgbClr val="282846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91440"/>
            <a:ext cx="1463040" cy="731520"/>
          </a:xfrm>
          <a:prstGeom prst="rect">
            <a:avLst/>
          </a:prstGeom>
          <a:solidFill>
            <a:srgbClr val="DCB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05</a:t>
            </a:r>
            <a:endParaRPr sz="3400" b="1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11680" y="18288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业务五：交通可达性与停车空间分析</a:t>
            </a:r>
            <a:endParaRPr sz="2600" b="1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5212080" cy="411480"/>
          </a:xfrm>
          <a:prstGeom prst="rect">
            <a:avLst/>
          </a:prstGeom>
          <a:solidFill>
            <a:srgbClr val="C8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报告原文：交通瓶颈是核心短板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5212080" cy="4572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600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62828"/>
                </a:solidFill>
              </a:rPr>
              <a:t>"五一期间核心景区周边拥堵严重，停车难问题突出"</a:t>
            </a:r>
            <a:endParaRPr sz="1100" b="0">
              <a:solidFill>
                <a:srgbClr val="962828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0040" y="2084831"/>
            <a:ext cx="5212080" cy="4572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1305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62828"/>
                </a:solidFill>
              </a:rPr>
              <a:t>"邯郸道单日或超20万人次，景区承载力告急"</a:t>
            </a:r>
            <a:endParaRPr sz="1100" b="0">
              <a:solidFill>
                <a:srgbClr val="962828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20040" y="2615184"/>
            <a:ext cx="5212080" cy="4572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66090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62828"/>
                </a:solidFill>
              </a:rPr>
              <a:t>"热点餐厅排队2h+，交通是制约体验的核心因素"</a:t>
            </a:r>
            <a:endParaRPr sz="1100" b="0">
              <a:solidFill>
                <a:srgbClr val="962828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852160" y="1051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1E3C"/>
                </a:solidFill>
              </a:rPr>
              <a:t>测绘解决方案</a:t>
            </a:r>
            <a:endParaRPr sz="1600" b="1">
              <a:solidFill>
                <a:srgbClr val="0A1E3C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852160" y="1417320"/>
            <a:ext cx="5989320" cy="36576"/>
          </a:xfrm>
          <a:prstGeom prst="rect">
            <a:avLst/>
          </a:prstGeom>
          <a:solidFill>
            <a:srgbClr val="DCB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52160" y="1536192"/>
            <a:ext cx="5989320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52160" y="1536192"/>
            <a:ext cx="91440" cy="1298448"/>
          </a:xfrm>
          <a:prstGeom prst="rect">
            <a:avLst/>
          </a:prstGeom>
          <a:solidFill>
            <a:srgbClr val="DCB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159105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1E32"/>
                </a:solidFill>
              </a:rPr>
              <a:t>🅿️  停车位遥感监测</a:t>
            </a:r>
            <a:endParaRPr sz="1400" b="1">
              <a:solidFill>
                <a:srgbClr val="1E1E32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035040" y="1975104"/>
            <a:ext cx="5669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0506E"/>
                </a:solidFill>
              </a:rPr>
              <a:t>利用无人机航拍+深度学习，自动识别景区周边停车位数量、位置、利用率，支撑停车难解决方案</a:t>
            </a:r>
            <a:endParaRPr sz="1200" b="0">
              <a:solidFill>
                <a:srgbClr val="50506E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852160" y="3017520"/>
            <a:ext cx="5989320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52160" y="3017520"/>
            <a:ext cx="91440" cy="1298448"/>
          </a:xfrm>
          <a:prstGeom prst="rect">
            <a:avLst/>
          </a:prstGeom>
          <a:solidFill>
            <a:srgbClr val="DCB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3072384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1E32"/>
                </a:solidFill>
              </a:rPr>
              <a:t>🛣️  道路精细测量</a:t>
            </a:r>
            <a:endParaRPr sz="1400" b="1">
              <a:solidFill>
                <a:srgbClr val="1E1E32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35040" y="3456432"/>
            <a:ext cx="5669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0506E"/>
                </a:solidFill>
              </a:rPr>
              <a:t>核心景区周边道路断面、宽度、转弯半径精确测量，支撑道路改造方案设计</a:t>
            </a:r>
            <a:endParaRPr sz="1200" b="0">
              <a:solidFill>
                <a:srgbClr val="50506E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852160" y="4498848"/>
            <a:ext cx="5989320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52160" y="4498848"/>
            <a:ext cx="91440" cy="1298448"/>
          </a:xfrm>
          <a:prstGeom prst="rect">
            <a:avLst/>
          </a:prstGeom>
          <a:solidFill>
            <a:srgbClr val="DCB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455371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1E32"/>
                </a:solidFill>
              </a:rPr>
              <a:t>🚦  交通微循环分析</a:t>
            </a:r>
            <a:endParaRPr sz="1400" b="1">
              <a:solidFill>
                <a:srgbClr val="1E1E32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35040" y="4937760"/>
            <a:ext cx="5669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0506E"/>
                </a:solidFill>
              </a:rPr>
              <a:t>建立景区周边交通网络模型，提出单向通行、停车换乘方案建议</a:t>
            </a:r>
            <a:endParaRPr sz="1200" b="0">
              <a:solidFill>
                <a:srgbClr val="50506E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852160" y="5980176"/>
            <a:ext cx="5989320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52160" y="5980176"/>
            <a:ext cx="91440" cy="1298448"/>
          </a:xfrm>
          <a:prstGeom prst="rect">
            <a:avLst/>
          </a:prstGeom>
          <a:solidFill>
            <a:srgbClr val="DCB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603504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1E32"/>
                </a:solidFill>
              </a:rPr>
              <a:t>📊  停车诱导一张图</a:t>
            </a:r>
            <a:endParaRPr sz="1400" b="1">
              <a:solidFill>
                <a:srgbClr val="1E1E32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035040" y="6419088"/>
            <a:ext cx="5669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0506E"/>
                </a:solidFill>
              </a:rPr>
              <a:t>整合全市景区停车场位置、容量数据，支撑智能停车诱导系统建设</a:t>
            </a:r>
            <a:endParaRPr sz="1200" b="0">
              <a:solidFill>
                <a:srgbClr val="50506E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服务模式与合作方式</a:t>
            </a:r>
            <a:endParaRPr sz="2800" b="1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3657600" cy="914400"/>
          </a:xfrm>
          <a:prstGeom prst="rect">
            <a:avLst/>
          </a:prstGeom>
          <a:solidFill>
            <a:srgbClr val="32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3192" y="1097280"/>
            <a:ext cx="351129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模式一
单项目采购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2011680"/>
            <a:ext cx="3657600" cy="384048"/>
          </a:xfrm>
          <a:prstGeom prst="rect">
            <a:avLst/>
          </a:prstGeom>
          <a:solidFill>
            <a:srgbClr val="EB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2057400"/>
            <a:ext cx="35112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05078"/>
                </a:solidFill>
              </a:rPr>
              <a:t>单次测绘任务，
周期明确</a:t>
            </a:r>
            <a:endParaRPr sz="1200" b="0">
              <a:solidFill>
                <a:srgbClr val="505078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0040" y="2468880"/>
            <a:ext cx="36576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254203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250"/>
                </a:solidFill>
              </a:rPr>
              <a:t>  单景区1:500地形图测绘等</a:t>
            </a:r>
            <a:endParaRPr sz="1200" b="0">
              <a:solidFill>
                <a:srgbClr val="32325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3657600" cy="493776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30906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250"/>
                </a:solidFill>
              </a:rPr>
              <a:t>  按项目签订合同</a:t>
            </a:r>
            <a:endParaRPr sz="1200" b="0">
              <a:solidFill>
                <a:srgbClr val="32325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20040" y="3566160"/>
            <a:ext cx="36576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36393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250"/>
                </a:solidFill>
              </a:rPr>
              <a:t>  灵活、快速启动</a:t>
            </a:r>
            <a:endParaRPr sz="1200" b="0">
              <a:solidFill>
                <a:srgbClr val="32325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0040" y="4114800"/>
            <a:ext cx="3657600" cy="493776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41879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250"/>
                </a:solidFill>
              </a:rPr>
              <a:t>  适合：急需的测量任务</a:t>
            </a:r>
            <a:endParaRPr sz="1200" b="0">
              <a:solidFill>
                <a:srgbClr val="32325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279392" y="1051560"/>
            <a:ext cx="3657600" cy="914400"/>
          </a:xfrm>
          <a:prstGeom prst="rect">
            <a:avLst/>
          </a:prstGeom>
          <a:solidFill>
            <a:srgbClr val="3C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52544" y="1097280"/>
            <a:ext cx="351129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模式二
年度框架协议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279392" y="2011680"/>
            <a:ext cx="3657600" cy="384048"/>
          </a:xfrm>
          <a:prstGeom prst="rect">
            <a:avLst/>
          </a:prstGeom>
          <a:solidFill>
            <a:srgbClr val="EB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52544" y="2057400"/>
            <a:ext cx="35112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05078"/>
                </a:solidFill>
              </a:rPr>
              <a:t>多批次任务
统一打包</a:t>
            </a:r>
            <a:endParaRPr sz="1200" b="0">
              <a:solidFill>
                <a:srgbClr val="505078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279392" y="2468880"/>
            <a:ext cx="36576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1" y="254203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250"/>
                </a:solidFill>
              </a:rPr>
              <a:t>  年度内测量任务打包</a:t>
            </a:r>
            <a:endParaRPr sz="1200" b="0">
              <a:solidFill>
                <a:srgbClr val="32325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279392" y="3017520"/>
            <a:ext cx="3657600" cy="493776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70831" y="30906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250"/>
                </a:solidFill>
              </a:rPr>
              <a:t>  约定单价和工作量上限</a:t>
            </a:r>
            <a:endParaRPr sz="1200" b="0">
              <a:solidFill>
                <a:srgbClr val="323250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279392" y="3566160"/>
            <a:ext cx="36576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0831" y="36393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250"/>
                </a:solidFill>
              </a:rPr>
              <a:t>  价格优惠，长期稳定</a:t>
            </a:r>
            <a:endParaRPr sz="1200" b="0">
              <a:solidFill>
                <a:srgbClr val="323250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279392" y="4114800"/>
            <a:ext cx="3657600" cy="493776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70831" y="41879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250"/>
                </a:solidFill>
              </a:rPr>
              <a:t>  适合：持续性数据更新</a:t>
            </a:r>
            <a:endParaRPr sz="1200" b="0">
              <a:solidFill>
                <a:srgbClr val="323250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238744" y="1051560"/>
            <a:ext cx="3657600" cy="914400"/>
          </a:xfrm>
          <a:prstGeom prst="rect">
            <a:avLst/>
          </a:prstGeom>
          <a:solidFill>
            <a:srgbClr val="C8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11896" y="1097280"/>
            <a:ext cx="351129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模式三
战略合作共建</a:t>
            </a:r>
            <a:endParaRPr sz="1700" b="1">
              <a:solidFill>
                <a:srgbClr val="FFFFFF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238744" y="2011680"/>
            <a:ext cx="3657600" cy="384048"/>
          </a:xfrm>
          <a:prstGeom prst="rect">
            <a:avLst/>
          </a:prstGeom>
          <a:solidFill>
            <a:srgbClr val="EB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11896" y="2057400"/>
            <a:ext cx="35112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05078"/>
                </a:solidFill>
              </a:rPr>
              <a:t>深度战略合作
共建平台</a:t>
            </a:r>
            <a:endParaRPr sz="1200" b="0">
              <a:solidFill>
                <a:srgbClr val="505078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238744" y="2468880"/>
            <a:ext cx="36576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3" y="254203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250"/>
                </a:solidFill>
              </a:rPr>
              <a:t>  共建文旅空间数据平台</a:t>
            </a:r>
            <a:endParaRPr sz="1200" b="0">
              <a:solidFill>
                <a:srgbClr val="323250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238744" y="3017520"/>
            <a:ext cx="3657600" cy="493776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183" y="30906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250"/>
                </a:solidFill>
              </a:rPr>
              <a:t>  联合申报科研/示范项目</a:t>
            </a:r>
            <a:endParaRPr sz="1200" b="0">
              <a:solidFill>
                <a:srgbClr val="323250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8238744" y="3566160"/>
            <a:ext cx="36576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3" y="36393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250"/>
                </a:solidFill>
              </a:rPr>
              <a:t>  深度绑定，共同发展</a:t>
            </a:r>
            <a:endParaRPr sz="1200" b="0">
              <a:solidFill>
                <a:srgbClr val="323250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8238744" y="4114800"/>
            <a:ext cx="3657600" cy="493776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30183" y="41879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250"/>
                </a:solidFill>
              </a:rPr>
              <a:t>  适合：一张图平台建设</a:t>
            </a:r>
            <a:endParaRPr sz="1200" b="0">
              <a:solidFill>
                <a:srgbClr val="32325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20040" y="4709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E3C"/>
                </a:solidFill>
              </a:rPr>
              <a:t>合作流程</a:t>
            </a:r>
            <a:endParaRPr sz="1500" b="1">
              <a:solidFill>
                <a:srgbClr val="0A1E3C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20040" y="5074920"/>
            <a:ext cx="11521440" cy="36576"/>
          </a:xfrm>
          <a:prstGeom prst="rect">
            <a:avLst/>
          </a:prstGeom>
          <a:solidFill>
            <a:srgbClr val="32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74320" y="5193792"/>
            <a:ext cx="1481328" cy="1005840"/>
          </a:xfrm>
          <a:prstGeom prst="rect">
            <a:avLst/>
          </a:prstGeom>
          <a:solidFill>
            <a:srgbClr val="32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5257800"/>
            <a:ext cx="138988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需求对接
沟通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1956816" y="5193792"/>
            <a:ext cx="1481328" cy="1005840"/>
          </a:xfrm>
          <a:prstGeom prst="rect">
            <a:avLst/>
          </a:prstGeom>
          <a:solidFill>
            <a:srgbClr val="32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02536" y="5257800"/>
            <a:ext cx="138988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现场踏勘
调研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639312" y="5193792"/>
            <a:ext cx="1481328" cy="1005840"/>
          </a:xfrm>
          <a:prstGeom prst="rect">
            <a:avLst/>
          </a:prstGeom>
          <a:solidFill>
            <a:srgbClr val="32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85032" y="5257800"/>
            <a:ext cx="138988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方案报价
确认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5321808" y="5193792"/>
            <a:ext cx="1481328" cy="1005840"/>
          </a:xfrm>
          <a:prstGeom prst="rect">
            <a:avLst/>
          </a:prstGeom>
          <a:solidFill>
            <a:srgbClr val="32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67528" y="5257800"/>
            <a:ext cx="138988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合同签订
启动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7004304" y="5193792"/>
            <a:ext cx="1481328" cy="1005840"/>
          </a:xfrm>
          <a:prstGeom prst="rect">
            <a:avLst/>
          </a:prstGeom>
          <a:solidFill>
            <a:srgbClr val="32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50024" y="5257800"/>
            <a:ext cx="138988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外业实施
采集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8686800" y="5193792"/>
            <a:ext cx="1481328" cy="1005840"/>
          </a:xfrm>
          <a:prstGeom prst="rect">
            <a:avLst/>
          </a:prstGeom>
          <a:solidFill>
            <a:srgbClr val="32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32520" y="5257800"/>
            <a:ext cx="138988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内业处理
提交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0369296" y="5193792"/>
            <a:ext cx="1481328" cy="1005840"/>
          </a:xfrm>
          <a:prstGeom prst="rect">
            <a:avLst/>
          </a:prstGeom>
          <a:solidFill>
            <a:srgbClr val="32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415016" y="5257800"/>
            <a:ext cx="138988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验收归档
持续服务</a:t>
            </a:r>
            <a:endParaRPr sz="12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32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32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32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8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598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邯郸市规划设计院</a:t>
            </a:r>
            <a:endParaRPr sz="4000" b="1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50B4FF"/>
                </a:solidFill>
              </a:rPr>
              <a:t>愿为邯郸文旅高质量发展</a:t>
            </a:r>
            <a:endParaRPr sz="3000" b="1">
              <a:solidFill>
                <a:srgbClr val="50B4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50B4FF"/>
                </a:solidFill>
              </a:rPr>
              <a:t>提供最专业的空间数据支撑</a:t>
            </a:r>
            <a:endParaRPr sz="3000" b="1">
              <a:solidFill>
                <a:srgbClr val="50B4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00400" y="3977639"/>
            <a:ext cx="5788152" cy="36576"/>
          </a:xfrm>
          <a:prstGeom prst="rect">
            <a:avLst/>
          </a:prstGeom>
          <a:solidFill>
            <a:srgbClr val="C8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64A0DC"/>
                </a:solidFill>
              </a:rPr>
              <a:t>联系信息</a:t>
            </a:r>
            <a:endParaRPr sz="1500" b="1">
              <a:solidFill>
                <a:srgbClr val="64A0DC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46177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4D2F0"/>
                </a:solidFill>
              </a:rPr>
              <a:t>联系人：潘海利    职务：信息服务科副主任</a:t>
            </a:r>
            <a:endParaRPr sz="1800" b="0">
              <a:solidFill>
                <a:srgbClr val="B4D2F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5001768"/>
            <a:ext cx="10360152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4D2F0"/>
                </a:solidFill>
              </a:rPr>
              <a:t>📞  0310-3028896</a:t>
            </a:r>
            <a:endParaRPr sz="1600" b="0">
              <a:solidFill>
                <a:srgbClr val="B4D2F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5385816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4D2F0"/>
                </a:solidFill>
              </a:rPr>
              <a:t>📧  859629762@qq.com</a:t>
            </a:r>
            <a:endParaRPr sz="1600" b="0">
              <a:solidFill>
                <a:srgbClr val="B4D2F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5769864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4D2F0"/>
                </a:solidFill>
              </a:rPr>
              <a:t>📍  邯郸市丛台区滏河北大街56号 邯郸市规划科研大厦</a:t>
            </a:r>
            <a:endParaRPr sz="1400" b="0">
              <a:solidFill>
                <a:srgbClr val="B4D2F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6153912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4D2F0"/>
                </a:solidFill>
              </a:rPr>
              <a:t>🏆  甲级测绘资质</a:t>
            </a:r>
            <a:endParaRPr sz="1500" b="0">
              <a:solidFill>
                <a:srgbClr val="B4D2F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4400" y="653796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感谢贵局领导审阅，期待合作！</a:t>
            </a:r>
            <a:endParaRPr sz="18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2539</Words>
  <Application>WPS 演示</Application>
  <PresentationFormat>On-screen Show (4:3)</PresentationFormat>
  <Paragraphs>394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潘海利</cp:lastModifiedBy>
  <cp:revision>2</cp:revision>
  <dcterms:created xsi:type="dcterms:W3CDTF">2013-01-27T09:14:00Z</dcterms:created>
  <dcterms:modified xsi:type="dcterms:W3CDTF">2026-05-07T00:24:36Z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7557EE29255B4719BC7E8F94DC9D1CAC_13</vt:lpwstr>
  </property>
  <property fmtid="{D5CDD505-2E9C-101B-9397-08002B2CF9AE}" pid="3" name="KSOProductBuildVer">
    <vt:lpwstr>2052-12.1.0.25865</vt:lpwstr>
  </property>
</Properties>
</file>